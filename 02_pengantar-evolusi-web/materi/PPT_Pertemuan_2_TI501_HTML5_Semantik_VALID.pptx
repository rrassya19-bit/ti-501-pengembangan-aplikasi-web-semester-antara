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0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869680" y="65836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 Teknologi Informasi UMY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flat_vector_illustration_of_a_web_page_lay.png">    </p:cNvPr>
          <p:cNvPicPr>
            <a:picLocks noChangeAspect="1"/>
          </p:cNvPicPr>
          <p:nvPr/>
        </p:nvPicPr>
        <p:blipFill>
          <a:blip r:embed="rId1"/>
          <a:srcRect l="28539" r="28539" t="0" b="0"/>
          <a:stretch/>
        </p:blipFill>
        <p:spPr>
          <a:xfrm>
            <a:off x="6839712" y="0"/>
            <a:ext cx="523036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12280" cy="6858000"/>
          </a:xfrm>
          <a:prstGeom prst="rect">
            <a:avLst/>
          </a:prstGeom>
          <a:solidFill>
            <a:srgbClr val="163B66"/>
          </a:solidFill>
          <a:ln w="12700">
            <a:solidFill>
              <a:srgbClr val="163B6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" y="475488"/>
            <a:ext cx="1481328" cy="329184"/>
          </a:xfrm>
          <a:prstGeom prst="roundRect">
            <a:avLst>
              <a:gd name="adj" fmla="val 25000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56235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PERTEMUAN 2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HTML5 Semantik &amp; Form Aksesibel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58368" y="2084832"/>
            <a:ext cx="91440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331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2FF"/>
                </a:solidFill>
              </a:rPr>
              <a:t>Melanjutkan Pertemuan 1: dari pemahaman evolusi web menuju struktur halaman yang benar.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5623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9FF"/>
                </a:solidFill>
              </a:rPr>
              <a:t>TI-501 Pengembangan Aplikasi Web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9FF"/>
                </a:solidFill>
              </a:rPr>
              <a:t>S1 Teknologi Informasi UMY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Posisi Pertemuan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Dari konsep web modern ke struktur dokumen HTML yang bermakna.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33375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109728" cy="2834640"/>
          </a:xfrm>
          <a:prstGeom prst="rect">
            <a:avLst/>
          </a:prstGeom>
          <a:solidFill>
            <a:srgbClr val="617088"/>
          </a:solidFill>
          <a:ln w="12700">
            <a:solidFill>
              <a:srgbClr val="61708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733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Pertemuan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86968" y="2011680"/>
            <a:ext cx="29260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Web 1.0–3.0, client-server, dan gambaran stack semester.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4407408" y="1234440"/>
            <a:ext cx="3337560" cy="33832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234440"/>
            <a:ext cx="109728" cy="33832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399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Pertemuan 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36008" y="1737360"/>
            <a:ext cx="292608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HTML5 semantik, struktur form, dan aksesibilitas dasar.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156448" y="1508760"/>
            <a:ext cx="33375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6448" y="1508760"/>
            <a:ext cx="109728" cy="28346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6733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Pertemuan 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85048" y="2011680"/>
            <a:ext cx="29260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CSS3, Flexbox/Grid, media query, dan desain responsif.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3995928" y="2880360"/>
            <a:ext cx="384048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44968" y="2880360"/>
            <a:ext cx="384048" cy="0"/>
          </a:xfrm>
          <a:prstGeom prst="line">
            <a:avLst/>
          </a:prstGeom>
          <a:noFill/>
          <a:ln w="25400">
            <a:solidFill>
              <a:srgbClr val="1F5F99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78992" y="5166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B66"/>
                </a:solidFill>
              </a:rPr>
              <a:t>Target hari ini: mahasiswa mampu membangun struktur halaman web dengan HTML5 semantik.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Capaian &amp; Output Pembelajaran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Sub-CPMK: membangun struktur halaman web dengan HTML5 semantik.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57784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Menjelaskan perbedaan tag semantik dan non-semantik.</a:t>
            </a:r>
            <a:endParaRPr lang="en-US" sz="1500" dirty="0"/>
          </a:p>
          <a:p>
            <a:r>
              <a:rPr lang="en-US" sz="15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Menyusun struktur halaman dengan &lt;header&gt;, &lt;nav&gt;, &lt;main&gt;, &lt;section&gt;, &lt;article&gt;, &lt;aside&gt;, dan &lt;footer&gt;.</a:t>
            </a:r>
            <a:endParaRPr lang="en-US" sz="1500" dirty="0"/>
          </a:p>
          <a:p>
            <a:r>
              <a:rPr lang="en-US" sz="15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Membuat form HTML yang memiliki label, instruksi, validasi dasar, serta grup input.</a:t>
            </a:r>
            <a:endParaRPr lang="en-US" sz="1500" dirty="0"/>
          </a:p>
          <a:p>
            <a:r>
              <a:rPr lang="en-US" sz="15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Menerapkan prinsip aksesibilitas dasar: heading berurutan, alt text, label-for, fieldset-legend, dan bahasa dokumen.</a:t>
            </a:r>
            <a:endParaRPr lang="en-US" sz="1500" dirty="0"/>
          </a:p>
        </p:txBody>
      </p:sp>
      <p:pic>
        <p:nvPicPr>
          <p:cNvPr id="5" name="Image 0" descr="/mnt/data/a_wide_bright_classroom_meeting_room_scene_with_a.png">    </p:cNvPr>
          <p:cNvPicPr>
            <a:picLocks noChangeAspect="1"/>
          </p:cNvPicPr>
          <p:nvPr/>
        </p:nvPicPr>
        <p:blipFill>
          <a:blip r:embed="rId1"/>
          <a:srcRect l="18108" r="18108" t="0" b="0"/>
          <a:stretch/>
        </p:blipFill>
        <p:spPr>
          <a:xfrm>
            <a:off x="6812280" y="1234440"/>
            <a:ext cx="4663440" cy="4114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HTML Semantik Penting?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HTML bukan hanya “tampilan”, tetapi struktur dan makna.</a:t>
            </a:r>
            <a:endParaRPr lang="en-US" sz="1150" dirty="0"/>
          </a:p>
        </p:txBody>
      </p:sp>
      <p:pic>
        <p:nvPicPr>
          <p:cNvPr id="4" name="Image 0" descr="/mnt/data/a_clean_flat_vector_illustration_of_a_web_page_lay.png">    </p:cNvPr>
          <p:cNvPicPr>
            <a:picLocks noChangeAspect="1"/>
          </p:cNvPicPr>
          <p:nvPr/>
        </p:nvPicPr>
        <p:blipFill>
          <a:blip r:embed="rId1"/>
          <a:srcRect l="14007" r="14007" t="0" b="0"/>
          <a:stretch/>
        </p:blipFill>
        <p:spPr>
          <a:xfrm>
            <a:off x="713232" y="1325880"/>
            <a:ext cx="50292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325880"/>
            <a:ext cx="5074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1325880"/>
            <a:ext cx="109728" cy="86868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5080" y="149047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Untuk developer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1828800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Kode lebih mudah dibaca, dirawat, dan dikembangkan menjadi aplikasi besar.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6126480" y="2423160"/>
            <a:ext cx="5074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2423160"/>
            <a:ext cx="109728" cy="868680"/>
          </a:xfrm>
          <a:prstGeom prst="rect">
            <a:avLst/>
          </a:prstGeom>
          <a:solidFill>
            <a:srgbClr val="3CA3B7"/>
          </a:solidFill>
          <a:ln w="12700">
            <a:solidFill>
              <a:srgbClr val="3CA3B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258775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Untuk browser &amp; mesin pencari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55080" y="2926080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Struktur halaman lebih jelas sehingga konten dapat dipahami sebagai bagian-bagian bermakna.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6126480" y="3520440"/>
            <a:ext cx="5074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3520440"/>
            <a:ext cx="109728" cy="8686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368503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Untuk aksesibilitas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55080" y="4023360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Screen reader dapat membantu pengguna menavigasi heading, navigasi, konten utama, dan form.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6126480" y="4617720"/>
            <a:ext cx="5074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4617720"/>
            <a:ext cx="109728" cy="86868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478231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Untuk nilai AIK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355080" y="5120640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Desain yang inklusif adalah bentuk Al-‘Adl dan Rahmah dalam ruang digital.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Non-Semantik vs Semantik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Pilih tag sesuai makna, bukan sekadar bentuk visual.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4800600" cy="2743200"/>
          </a:xfrm>
          <a:prstGeom prst="roundRect">
            <a:avLst>
              <a:gd name="adj" fmla="val 4000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45920"/>
            <a:ext cx="4480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&lt;div class="header"&gt;...&lt;/div&gt;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&lt;div class="menu"&gt;...&lt;/div&gt;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&lt;div class="content"&gt;...&lt;/div&gt;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&lt;div class="footer"&gt;...&lt;/div&gt;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29400" y="1508760"/>
            <a:ext cx="4800600" cy="2743200"/>
          </a:xfrm>
          <a:prstGeom prst="roundRect">
            <a:avLst>
              <a:gd name="adj" fmla="val 4000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93992" y="1645920"/>
            <a:ext cx="4480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&lt;header&gt;...&lt;/header&gt;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&lt;nav&gt;...&lt;/nav&gt;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&lt;main&gt;...&lt;/main&gt;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&lt;footer&gt;...&lt;/footer&gt;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4617720"/>
            <a:ext cx="1417320" cy="329184"/>
          </a:xfrm>
          <a:prstGeom prst="roundRect">
            <a:avLst>
              <a:gd name="adj" fmla="val 25000"/>
            </a:avLst>
          </a:prstGeom>
          <a:solidFill>
            <a:srgbClr val="617088"/>
          </a:solidFill>
          <a:ln w="12700">
            <a:solidFill>
              <a:srgbClr val="61708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4704588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Kurang bermakna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412480" y="4617720"/>
            <a:ext cx="1097280" cy="329184"/>
          </a:xfrm>
          <a:prstGeom prst="roundRect">
            <a:avLst>
              <a:gd name="adj" fmla="val 25000"/>
            </a:avLst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85632" y="4704588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Lebih jelas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97280" y="54864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17088"/>
                </a:solidFill>
              </a:rPr>
              <a:t>Catatan: &lt;div&gt; tetap boleh digunakan untuk kebutuhan layout, tetapi struktur utama sebaiknya menggunakan elemen semantik.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Anatomi Dokumen HTML5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Struktur minimum yang harus ada sebelum menulis konten.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280160"/>
            <a:ext cx="5669280" cy="4480560"/>
          </a:xfrm>
          <a:prstGeom prst="roundRect">
            <a:avLst>
              <a:gd name="adj" fmla="val 2449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417320"/>
            <a:ext cx="53492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&lt;!DOCTYPE html&gt;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&lt;html lang="id"&gt;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&lt;head&gt;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&lt;meta charset="UTF-8"&gt;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&lt;meta name="viewport" content="width=device-width, initial-scale=1.0"&gt;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&lt;title&gt;Asisten AI UMKM&lt;/title&gt;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&lt;/head&gt;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&lt;body&gt;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&lt;!-- konten halaman --&gt;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&lt;/body&gt;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&lt;/html&gt;</a:t>
            </a:r>
            <a:endParaRPr lang="en-US" sz="1260" dirty="0"/>
          </a:p>
        </p:txBody>
      </p:sp>
      <p:sp>
        <p:nvSpPr>
          <p:cNvPr id="6" name="Text 4"/>
          <p:cNvSpPr/>
          <p:nvPr/>
        </p:nvSpPr>
        <p:spPr>
          <a:xfrm>
            <a:off x="6995160" y="1554480"/>
            <a:ext cx="416052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&lt;!DOCTYPE html&gt; mendefinisikan dokumen HTML5.</a:t>
            </a:r>
            <a:endParaRPr lang="en-US" sz="1500" dirty="0"/>
          </a:p>
          <a:p>
            <a:r>
              <a:rPr lang="en-US" sz="15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lang="id" membantu pembaca layar mengenali bahasa.</a:t>
            </a:r>
            <a:endParaRPr lang="en-US" sz="1500" dirty="0"/>
          </a:p>
          <a:p>
            <a:r>
              <a:rPr lang="en-US" sz="15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viewport membuat halaman siap untuk perangkat mobile.</a:t>
            </a:r>
            <a:endParaRPr lang="en-US" sz="1500" dirty="0"/>
          </a:p>
          <a:p>
            <a:r>
              <a:rPr lang="en-US" sz="150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&lt;title&gt; penting untuk tab browser dan aksesibilitas.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Pola Struktur Halaman Semantik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Gunakan landmark utama agar halaman mudah dinavigasi.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51560" y="1847088"/>
            <a:ext cx="4389120" cy="548640"/>
          </a:xfrm>
          <a:prstGeom prst="roundRect">
            <a:avLst>
              <a:gd name="adj" fmla="val 8333"/>
            </a:avLst>
          </a:prstGeom>
          <a:solidFill>
            <a:srgbClr val="1F5F99">
              <a:alpha val="92000"/>
            </a:srgbClr>
          </a:solidFill>
          <a:ln w="19050">
            <a:solidFill>
              <a:srgbClr val="1F5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984248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5F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&lt;header&gt;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51560" y="2487168"/>
            <a:ext cx="4389120" cy="411480"/>
          </a:xfrm>
          <a:prstGeom prst="roundRect">
            <a:avLst>
              <a:gd name="adj" fmla="val 11111"/>
            </a:avLst>
          </a:prstGeom>
          <a:solidFill>
            <a:srgbClr val="3CA3B7">
              <a:alpha val="92000"/>
            </a:srgbClr>
          </a:solidFill>
          <a:ln w="19050">
            <a:solidFill>
              <a:srgbClr val="3CA3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24328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CA3B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&lt;nav&gt;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51560" y="2999232"/>
            <a:ext cx="2880360" cy="1508760"/>
          </a:xfrm>
          <a:prstGeom prst="roundRect">
            <a:avLst>
              <a:gd name="adj" fmla="val 3030"/>
            </a:avLst>
          </a:prstGeom>
          <a:solidFill>
            <a:srgbClr val="F28C28">
              <a:alpha val="92000"/>
            </a:srgbClr>
          </a:solidFill>
          <a:ln w="19050">
            <a:solidFill>
              <a:srgbClr val="F28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36392"/>
            <a:ext cx="2697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&lt;main&gt;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41648" y="2999232"/>
            <a:ext cx="1399032" cy="1508760"/>
          </a:xfrm>
          <a:prstGeom prst="roundRect">
            <a:avLst>
              <a:gd name="adj" fmla="val 3268"/>
            </a:avLst>
          </a:prstGeom>
          <a:solidFill>
            <a:srgbClr val="1F8A70">
              <a:alpha val="92000"/>
            </a:srgbClr>
          </a:solidFill>
          <a:ln w="19050">
            <a:solidFill>
              <a:srgbClr val="1F8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3088" y="3136392"/>
            <a:ext cx="12161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8A7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&lt;aside&gt;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51560" y="4617720"/>
            <a:ext cx="4389120" cy="502920"/>
          </a:xfrm>
          <a:prstGeom prst="roundRect">
            <a:avLst>
              <a:gd name="adj" fmla="val 9091"/>
            </a:avLst>
          </a:prstGeom>
          <a:solidFill>
            <a:srgbClr val="1F5F99">
              <a:alpha val="92000"/>
            </a:srgbClr>
          </a:solidFill>
          <a:ln w="19050">
            <a:solidFill>
              <a:srgbClr val="1F5F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75488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5F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&lt;footer&gt;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5349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7088"/>
                </a:solidFill>
              </a:rPr>
              <a:t>Struktur halaman lebih mudah dipahami manusia, browser, screen reader, dan search engine.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1600200"/>
            <a:ext cx="4434840" cy="3886200"/>
          </a:xfrm>
          <a:prstGeom prst="roundRect">
            <a:avLst>
              <a:gd name="adj" fmla="val 2824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173736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&lt;body&gt;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&lt;header&gt;...&lt;/header&gt;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&lt;nav&gt;...&lt;/nav&gt;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&lt;main&gt;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&lt;section&gt;...&lt;/section&gt;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&lt;article&gt;...&lt;/article&gt;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&lt;/main&gt;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&lt;aside&gt;...&lt;/aside&gt;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&lt;footer&gt;...&lt;/footer&gt;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&lt;/body&gt;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Heading, Link, dan Gambar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Tiga hal kecil yang sangat berpengaruh pada kualitas HTML.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109728" cy="292608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904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Heading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297180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Gunakan satu &lt;h1&gt; utama. Lanjutkan secara berurutan: &lt;h2&gt;, &lt;h3&gt;, dan seterusnya.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109728" cy="2926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904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Link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3440" y="1828800"/>
            <a:ext cx="297180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Tulis teks link yang menjelaskan tujuan, bukan “klik di sini”.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092440" y="132588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325880"/>
            <a:ext cx="109728" cy="292608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4904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Gambar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21040" y="1828800"/>
            <a:ext cx="297180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Gunakan atribut alt untuk menjelaskan makna gambar. Jika dekoratif, alt dapat dikosongkan.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1051560" y="4754880"/>
            <a:ext cx="10058400" cy="1051560"/>
          </a:xfrm>
          <a:prstGeom prst="roundRect">
            <a:avLst>
              <a:gd name="adj" fmla="val 10435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4892040"/>
            <a:ext cx="9738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&lt;h1&gt;Asisten AI untuk UMKM&lt;/h1&gt;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&lt;h2&gt;Layanan&lt;/h2&gt;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&lt;a href="#konsultasi"&gt;Isi form konsultasi&lt;/a&gt;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&lt;img src="umkm.jpg" alt="Pemilik UMKM sedang melayani pelanggan"&gt;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Struktur Form HTML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Form adalah pintu masuk data dari pengguna ke aplikasi.</a:t>
            </a:r>
            <a:endParaRPr lang="en-US" sz="1150" dirty="0"/>
          </a:p>
        </p:txBody>
      </p:sp>
      <p:pic>
        <p:nvPicPr>
          <p:cNvPr id="4" name="Image 0" descr="/mnt/data/wide_clean_vector_illustration_style_scene_a_lap.png">    </p:cNvPr>
          <p:cNvPicPr>
            <a:picLocks noChangeAspect="1"/>
          </p:cNvPicPr>
          <p:nvPr/>
        </p:nvPicPr>
        <p:blipFill>
          <a:blip r:embed="rId1"/>
          <a:srcRect l="16801" r="16801" t="0" b="0"/>
          <a:stretch/>
        </p:blipFill>
        <p:spPr>
          <a:xfrm>
            <a:off x="731520" y="1234440"/>
            <a:ext cx="480060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3258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53912" y="1463040"/>
            <a:ext cx="50749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&lt;form action="#" method="post"&gt;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&lt;label for="nama"&gt;Nama UMKM&lt;/label&gt;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&lt;input id="nama" name="nama" required&gt;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&lt;label for="masalah"&gt;Masalah utama&lt;/label&gt;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&lt;textarea id="masalah" name="masalah"&gt;&lt;/textarea&gt;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&lt;button type="submit"&gt;Kirim&lt;/button&gt;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&lt;/form&gt;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 yang Aksesibel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Form yang baik tidak hanya bisa diklik, tetapi juga bisa dipahami semua pengguna.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0120" y="1417320"/>
            <a:ext cx="237744" cy="23774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0412" y="144932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307592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Label terlihat dan terhubung dengan input melalui for dan id.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960120" y="1874520"/>
            <a:ext cx="237744" cy="23774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0412" y="190652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07592" y="18928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Gunakan fieldset dan legend untuk pilihan radio/checkbox.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960120" y="2331720"/>
            <a:ext cx="237744" cy="23774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0412" y="236372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07592" y="23500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Jelaskan format input dan field wajib sebelum pengguna mengisi.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60120" y="2788920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0412" y="282092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07592" y="28072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Jangan menjadikan placeholder sebagai satu-satunya instruksi.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0120" y="3246120"/>
            <a:ext cx="237744" cy="23774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0412" y="327812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07592" y="32644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Pastikan tombol dan input dapat diakses dengan keyboard.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446520" y="1417320"/>
            <a:ext cx="4572000" cy="2926080"/>
          </a:xfrm>
          <a:prstGeom prst="roundRect">
            <a:avLst>
              <a:gd name="adj" fmla="val 3750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554480"/>
            <a:ext cx="4251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&lt;fieldset&gt;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&lt;legend&gt;Skala Usaha&lt;/legend&gt;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&lt;input id="mikro" type="radio" name="skala"&gt;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&lt;label for="mikro"&gt;Mikro&lt;/label&gt;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&lt;input id="kecil" type="radio" name="skala"&gt;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&lt;label for="kecil"&gt;Kecil&lt;/label&gt;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&lt;/fieldset&gt;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Studi Kasus Praktikum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Halaman awal “Asisten AI untuk UMKM”.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4389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109728" cy="13716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904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Bagian yang dibuat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Header, navigasi, hero, layanan, artikel singkat, form konsultasi, aside tips, dan footer.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4389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71800"/>
            <a:ext cx="109728" cy="12344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363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Batasan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3977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Fokus pada struktur HTML. CSS hanya opsional/minimal agar halaman mudah dibaca.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777240" y="4462272"/>
            <a:ext cx="4389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462272"/>
            <a:ext cx="109728" cy="123444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6268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Keluaran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965192"/>
            <a:ext cx="3977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Folder berisi index.html, screenshot tampilan, dan checklist aksesibilitas.</a:t>
            </a:r>
            <a:endParaRPr lang="en-US" sz="1060" dirty="0"/>
          </a:p>
        </p:txBody>
      </p:sp>
      <p:pic>
        <p:nvPicPr>
          <p:cNvPr id="16" name="Image 0" descr="/mnt/data/a_wide_bright_classroom_meeting_room_scene_with_a.png">    </p:cNvPr>
          <p:cNvPicPr>
            <a:picLocks noChangeAspect="1"/>
          </p:cNvPicPr>
          <p:nvPr/>
        </p:nvPicPr>
        <p:blipFill>
          <a:blip r:embed="rId1"/>
          <a:srcRect l="15047" r="15047" t="0" b="0"/>
          <a:stretch/>
        </p:blipFill>
        <p:spPr>
          <a:xfrm>
            <a:off x="5715000" y="1234440"/>
            <a:ext cx="5394960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Praktikum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Gunakan sebagai pemeriksaan sebelum mengumpulkan tugas.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05840" y="1508760"/>
            <a:ext cx="237744" cy="237744"/>
          </a:xfrm>
          <a:prstGeom prst="ellipse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" y="154076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353312" y="152704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Struktur HTML5 minimum lengkap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1005840" y="2240280"/>
            <a:ext cx="237744" cy="237744"/>
          </a:xfrm>
          <a:prstGeom prst="ellipse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" y="227228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53312" y="225856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Elemen semantik digunakan tepat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1005840" y="2971800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6132" y="300380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53312" y="299008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Form memiliki label, id, name, dan required bila perlu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492240" y="1508760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2532" y="154076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39712" y="1527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Radio/checkbox dikelompokkan dengan fieldset dan legend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492240" y="2240280"/>
            <a:ext cx="237744" cy="23774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2532" y="227228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39712" y="22585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Heading berurutan dan halaman memiliki title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492240" y="2971800"/>
            <a:ext cx="237744" cy="23774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2532" y="300380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39712" y="2990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Setiap gambar bermakna memiliki alt text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1143000" y="4937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B66"/>
                </a:solidFill>
              </a:rPr>
              <a:t>Kualitas kode HTML dinilai dari struktur, makna, dan aksesibilitas dasar — bukan dari keindahan CSS.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Integrasi AIK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HTML semantik sebagai wujud desain digital yang adil dan ramah.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109728" cy="27432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81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Al-‘Adl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28803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Struktur dan aksesibilitas memastikan informasi tidak hanya nyaman untuk sebagian pengguna.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417320"/>
            <a:ext cx="109728" cy="27432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81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Rahmah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28803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Form yang jelas dan mudah dipahami membantu pengguna menyelesaikan kebutuhan tanpa kebingungan.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417320"/>
            <a:ext cx="109728" cy="27432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81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Amanah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1920240"/>
            <a:ext cx="28803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Data yang dikirim melalui form harus diperlakukan secara bertanggung jawab pada tahap backend nanti.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1234440" y="49834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B66"/>
                </a:solidFill>
              </a:rPr>
              <a:t>Kode yang baik adalah wasilah untuk menghadirkan layanan yang bermanfaat, inklusif, dan dapat dipercaya.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Tugas &amp; Penilaian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88"/>
                </a:solidFill>
              </a:rPr>
              <a:t>Bobot Pertemuan 2: 3%.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63040"/>
            <a:ext cx="109728" cy="22860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27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Dikumpulkan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2971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index.html, screenshot halaman, dan checklist aksesibilitas.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4434840" y="146304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463040"/>
            <a:ext cx="109728" cy="2286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27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Kriteria utama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2971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Ketepatan struktur semantik, kualitas form, aksesibilitas dasar, dan kerapian kode.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001000" y="146304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463040"/>
            <a:ext cx="109728" cy="2286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627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B66"/>
                </a:solidFill>
              </a:rPr>
              <a:t>Format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1965960"/>
            <a:ext cx="2971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88"/>
                </a:solidFill>
              </a:rPr>
              <a:t>Folder atau ZIP: NIM_Nama_Pertemuan02. Dikumpulkan melalui Moodle/GitHub sesuai arahan dosen.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1874520" y="4343400"/>
            <a:ext cx="8321040" cy="960120"/>
          </a:xfrm>
          <a:prstGeom prst="roundRect">
            <a:avLst>
              <a:gd name="adj" fmla="val 11429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9112" y="4480560"/>
            <a:ext cx="800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NIM_Nama_Pertemuan02/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index.html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screenshot.png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checklist-aksesibilitas.md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illustration_style_scene_a_lap.png">    </p:cNvPr>
          <p:cNvPicPr>
            <a:picLocks noChangeAspect="1"/>
          </p:cNvPicPr>
          <p:nvPr/>
        </p:nvPicPr>
        <p:blipFill>
          <a:blip r:embed="rId1"/>
          <a:srcRect l="21106" r="21106" t="0" b="0"/>
          <a:stretch/>
        </p:blipFill>
        <p:spPr>
          <a:xfrm>
            <a:off x="6446520" y="502920"/>
            <a:ext cx="5257800" cy="5120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63B66"/>
          </a:solidFill>
          <a:ln w="12700">
            <a:solidFill>
              <a:srgbClr val="163B66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3232" y="1005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</a:rPr>
              <a:t>Pertemuan berikutnya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13232" y="1417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CSS3: Layout, Flexbox/Grid, dan Responsif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749808" y="29260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9FF"/>
                </a:solidFill>
              </a:rPr>
              <a:t>HTML Pertemuan 2 akan menjadi kerangka. CSS Pertemuan 3 akan membuatnya rapi, responsif, dan nyaman digunakan.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9808" y="3977640"/>
            <a:ext cx="91440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251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Terima kasih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2 - HTML5 Semantik dan Form Aksesibel</dc:title>
  <dc:subject>TI-501 Pengembangan Aplikasi Web - Pertemuan 2</dc:subject>
  <dc:creator>Program Studi Teknologi Informasi UMY</dc:creator>
  <cp:lastModifiedBy>Program Studi Teknologi Informasi UMY</cp:lastModifiedBy>
  <cp:revision>1</cp:revision>
  <dcterms:created xsi:type="dcterms:W3CDTF">2026-07-14T23:10:03Z</dcterms:created>
  <dcterms:modified xsi:type="dcterms:W3CDTF">2026-07-14T23:10:03Z</dcterms:modified>
</cp:coreProperties>
</file>