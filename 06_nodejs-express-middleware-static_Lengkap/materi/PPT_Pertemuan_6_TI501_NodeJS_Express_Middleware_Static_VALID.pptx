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Awali dengan menghubungkan Pertemuan 5: sebelumnya frontend interaktif, sekarang membangun server backend.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Tekankan batas scope supaya mahasiswa tidak bingung dengan materi pertemuan 7, 9, dan 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Gunakan analogi restoran: browser memesan, server menyiapkan, response dikirim kembali.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Jelaskan bahwa Node.js bukan bahasa baru; bahasanya tetap JavaScript.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Ingatkan mahasiswa agar node_modules tidak diunggah jika repository memakai .gitignore.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Berikan demo cepat menjalankan npm run dev.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Jelaskan perbedaan response HTML, JSON, dan static 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Kaitkan dengan pertemuan 7: REST API akan dibuat lebih sistematis.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Tekankan fungsi next(): jika tidak dipanggil, request bisa berhenti.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Sebutkan bahwa express.json lebih terasa pada POST/PUT, tetapi diperkenalkan sejak awal.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Jelaskan perbedaan membuka file langsung vs dilayani oleh server localhost.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Pastikan mahasiswa memahami folder mana yang dijalankan dengan npm.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Jelaskan perbedaannya dengan Fetch lokal pada pertemuan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ini penting saat praktikum karena error sering terjadi pada folder/path.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Tekankan bahwa fokus bukan banyak fitur, melainkan struktur server yang benar.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Tutup dengan demo singkat localhost dan API endpoint.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12700">
            <a:solidFill>
              <a:srgbClr val="D5DF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28816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TI-501 Pengembangan Aplikasi Web · Pertemuan 6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018520" y="6528816"/>
            <a:ext cx="685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UMY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7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7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realistic_photo_of_a_college_classroom_or_coding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A2F">
              <a:alpha val="75000"/>
            </a:srgbClr>
          </a:solidFill>
          <a:ln w="12700">
            <a:solidFill>
              <a:srgbClr val="061A2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5669280" cy="6858000"/>
          </a:xfrm>
          <a:prstGeom prst="rect">
            <a:avLst/>
          </a:prstGeom>
          <a:solidFill>
            <a:srgbClr val="061A2F">
              <a:alpha val="96000"/>
            </a:srgbClr>
          </a:solidFill>
          <a:ln w="12700">
            <a:solidFill>
              <a:srgbClr val="061A2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85800" y="685800"/>
            <a:ext cx="2971800" cy="310896"/>
          </a:xfrm>
          <a:prstGeom prst="roundRect">
            <a:avLst>
              <a:gd name="adj" fmla="val 23529"/>
            </a:avLst>
          </a:prstGeom>
          <a:solidFill>
            <a:srgbClr val="23A455"/>
          </a:solidFill>
          <a:ln w="12700">
            <a:solidFill>
              <a:srgbClr val="23A455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58952" y="754380"/>
            <a:ext cx="28254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</a:rPr>
              <a:t>CPMK52 · Node.js · Express.js</a:t>
            </a:r>
            <a:endParaRPr lang="en-US" sz="840" dirty="0"/>
          </a:p>
        </p:txBody>
      </p:sp>
      <p:sp>
        <p:nvSpPr>
          <p:cNvPr id="7" name="Text 4"/>
          <p:cNvSpPr/>
          <p:nvPr/>
        </p:nvSpPr>
        <p:spPr>
          <a:xfrm>
            <a:off x="685800" y="13258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E7D2"/>
                </a:solidFill>
              </a:rPr>
              <a:t>Pertemuan 6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85800" y="1691640"/>
            <a:ext cx="480060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Node.js Runtime, Express.js, Middleware, dan Static File Serving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685800" y="562356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E6F5"/>
                </a:solidFill>
              </a:rPr>
              <a:t>Pengembangan Aplikasi Web (TI-501)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8E6F5"/>
                </a:solidFill>
              </a:rPr>
              <a:t>Program Studi Teknologi Informasi UMY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7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Posisi Pertemuan 6 dalam RPS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21792" y="804672"/>
            <a:ext cx="10515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A6A"/>
                </a:solidFill>
              </a:rPr>
              <a:t>Fokus RPS: Node.js runtime, Express.js dasar, middleware, dan static file serving.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85800" y="1280160"/>
            <a:ext cx="3383280" cy="44348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280160"/>
            <a:ext cx="82296" cy="4434840"/>
          </a:xfrm>
          <a:prstGeom prst="rect">
            <a:avLst/>
          </a:prstGeom>
          <a:solidFill>
            <a:srgbClr val="23A455"/>
          </a:solidFill>
          <a:ln w="12700">
            <a:solidFill>
              <a:srgbClr val="23A455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4173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3B66"/>
                </a:solidFill>
              </a:rPr>
              <a:t>Target Kompetensi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86968" y="1783080"/>
            <a:ext cx="3063240" cy="3794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Menjelaskan peran Node.js sebagai runtime JavaScript sisi server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Membangun server web sederhana dengan Express.js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Membuat route dasar untuk halaman dan API kecil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Menggunakan middleware untuk logging dan parsing request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4434840" y="1280160"/>
            <a:ext cx="3383280" cy="44348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34840" y="1280160"/>
            <a:ext cx="82296" cy="4434840"/>
          </a:xfrm>
          <a:prstGeom prst="rect">
            <a:avLst/>
          </a:prstGeom>
          <a:solidFill>
            <a:srgbClr val="1F5F99"/>
          </a:solidFill>
          <a:ln w="12700">
            <a:solidFill>
              <a:srgbClr val="1F5F99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36008" y="14173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3B66"/>
                </a:solidFill>
              </a:rPr>
              <a:t>Produk Praktikum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636008" y="1783080"/>
            <a:ext cx="3063240" cy="3794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Folder proyek Node.js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Server Express berjalan di localhost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Static file HTML/CSS/JS dapat diakses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Route /api/status dan /api/produk tersedia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8183880" y="1280160"/>
            <a:ext cx="3291840" cy="4434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83880" y="1280160"/>
            <a:ext cx="82296" cy="443484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85048" y="14173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3B66"/>
                </a:solidFill>
              </a:rPr>
              <a:t>Batasan Materi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385048" y="1783080"/>
            <a:ext cx="2971800" cy="3794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Belum masuk database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Belum masuk REST API lengkap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Belum masuk autentikasi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Belum masuk AI API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7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 Frontend ke Backend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21792" y="804672"/>
            <a:ext cx="10515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A6A"/>
                </a:solidFill>
              </a:rPr>
              <a:t>Pertemuan sebelumnya membuat halaman interaktif; sekarang halaman dilayani oleh server.</a:t>
            </a:r>
            <a:endParaRPr lang="en-US" sz="1250" dirty="0"/>
          </a:p>
        </p:txBody>
      </p:sp>
      <p:pic>
        <p:nvPicPr>
          <p:cNvPr id="4" name="Image 0" descr="/mnt/data/wide_clean_vector_flat_illustration_of_a_backend.png">    </p:cNvPr>
          <p:cNvPicPr>
            <a:picLocks noChangeAspect="1"/>
          </p:cNvPicPr>
          <p:nvPr/>
        </p:nvPicPr>
        <p:blipFill>
          <a:blip r:embed="rId1"/>
          <a:srcRect l="17402" r="17402" t="0" b="0"/>
          <a:stretch/>
        </p:blipFill>
        <p:spPr>
          <a:xfrm>
            <a:off x="685800" y="1143000"/>
            <a:ext cx="5349240" cy="46177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0" y="1143000"/>
            <a:ext cx="489204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400800" y="1143000"/>
            <a:ext cx="82296" cy="1143000"/>
          </a:xfrm>
          <a:prstGeom prst="rect">
            <a:avLst/>
          </a:prstGeom>
          <a:solidFill>
            <a:srgbClr val="1F5F99"/>
          </a:solidFill>
          <a:ln w="12700">
            <a:solidFill>
              <a:srgbClr val="1F5F99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601968" y="128016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3B66"/>
                </a:solidFill>
              </a:rPr>
              <a:t>Frontend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601968" y="1645920"/>
            <a:ext cx="45720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HTML, CSS, dan JavaScript berjalan di browser pengguna.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6400800" y="2606040"/>
            <a:ext cx="489204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0800" y="2606040"/>
            <a:ext cx="82296" cy="1143000"/>
          </a:xfrm>
          <a:prstGeom prst="rect">
            <a:avLst/>
          </a:prstGeom>
          <a:solidFill>
            <a:srgbClr val="23A455"/>
          </a:solidFill>
          <a:ln w="12700">
            <a:solidFill>
              <a:srgbClr val="23A455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601968" y="274320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3B66"/>
                </a:solidFill>
              </a:rPr>
              <a:t>Backend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6601968" y="3108960"/>
            <a:ext cx="45720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Node.js dan Express menerima request, menjalankan logika, lalu mengirim response.</a:t>
            </a:r>
            <a:endParaRPr lang="en-US" sz="1080" dirty="0"/>
          </a:p>
        </p:txBody>
      </p:sp>
      <p:sp>
        <p:nvSpPr>
          <p:cNvPr id="13" name="Shape 10"/>
          <p:cNvSpPr/>
          <p:nvPr/>
        </p:nvSpPr>
        <p:spPr>
          <a:xfrm>
            <a:off x="6400800" y="4069080"/>
            <a:ext cx="489204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400800" y="4069080"/>
            <a:ext cx="82296" cy="114300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601968" y="420624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3B66"/>
                </a:solidFill>
              </a:rPr>
              <a:t>Static Files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6601968" y="4572000"/>
            <a:ext cx="45720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Server dapat mengirim file public seperti index.html, style.css, app.js, dan gambar.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7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 itu Node.js Runtime?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21792" y="804672"/>
            <a:ext cx="10515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A6A"/>
                </a:solidFill>
              </a:rPr>
              <a:t>Node.js memungkinkan JavaScript berjalan di luar browser, terutama untuk backend dan tools.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77240" y="1234440"/>
            <a:ext cx="3337560" cy="438912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234440"/>
            <a:ext cx="82296" cy="4389120"/>
          </a:xfrm>
          <a:prstGeom prst="rect">
            <a:avLst/>
          </a:prstGeom>
          <a:solidFill>
            <a:srgbClr val="23A455"/>
          </a:solidFill>
          <a:ln w="12700">
            <a:solidFill>
              <a:srgbClr val="23A455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8408" y="137160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3B66"/>
                </a:solidFill>
              </a:rPr>
              <a:t>Runtime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78408" y="1737360"/>
            <a:ext cx="3017520" cy="3749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Lingkungan untuk menjalankan kode JavaScript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Tidak membutuhkan browser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Memiliki akses ke file system dan jaringan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Umum dipakai untuk backend web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4434840" y="1234440"/>
            <a:ext cx="3337560" cy="438912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34840" y="1234440"/>
            <a:ext cx="82296" cy="4389120"/>
          </a:xfrm>
          <a:prstGeom prst="rect">
            <a:avLst/>
          </a:prstGeom>
          <a:solidFill>
            <a:srgbClr val="1F5F99"/>
          </a:solidFill>
          <a:ln w="12700">
            <a:solidFill>
              <a:srgbClr val="1F5F99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36008" y="137160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3B66"/>
                </a:solidFill>
              </a:rPr>
              <a:t>Event-driven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636008" y="1737360"/>
            <a:ext cx="3017520" cy="3749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Cocok untuk banyak request I/O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Menggunakan callback, promise, async/await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Non-blocking untuk operasi tertentu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Efisien untuk API dan real-time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8092440" y="1234440"/>
            <a:ext cx="3337560" cy="438912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92440" y="1234440"/>
            <a:ext cx="82296" cy="438912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93608" y="137160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3B66"/>
                </a:solidFill>
              </a:rPr>
              <a:t>Ekosistem NPM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293608" y="1737360"/>
            <a:ext cx="3017520" cy="3749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Mengelola package/library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Memudahkan instalasi Express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Script proyek dijalankan via npm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Package dicatat di package.json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7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Persiapan Project Node.js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21792" y="804672"/>
            <a:ext cx="10515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A6A"/>
                </a:solidFill>
              </a:rPr>
              <a:t>Langkah awal: membuat folder proyek, package.json, dan memasang Express.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77240" y="1234440"/>
            <a:ext cx="5166360" cy="4526280"/>
          </a:xfrm>
          <a:prstGeom prst="roundRect">
            <a:avLst>
              <a:gd name="adj" fmla="val 2020"/>
            </a:avLst>
          </a:prstGeom>
          <a:solidFill>
            <a:srgbClr val="0B1D33"/>
          </a:solidFill>
          <a:ln w="12700">
            <a:solidFill>
              <a:srgbClr val="0B1D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41832" y="1380744"/>
            <a:ext cx="4837176" cy="42336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mkdir asisten-ai-umkm-server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asisten-ai-umkm-server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init -y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 express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 --save-dev nodemon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355080" y="1234440"/>
            <a:ext cx="484632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355080" y="1234440"/>
            <a:ext cx="82296" cy="2011680"/>
          </a:xfrm>
          <a:prstGeom prst="rect">
            <a:avLst/>
          </a:prstGeom>
          <a:solidFill>
            <a:srgbClr val="23A455"/>
          </a:solidFill>
          <a:ln w="12700">
            <a:solidFill>
              <a:srgbClr val="23A455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56248" y="13716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3B66"/>
                </a:solidFill>
              </a:rPr>
              <a:t>File Penting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556248" y="1737360"/>
            <a:ext cx="4526280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package.json: metadata proyek dan script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node_modules: package hasil install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server.js: titik awal aplikasi server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6355080" y="3657600"/>
            <a:ext cx="484632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55080" y="3657600"/>
            <a:ext cx="82296" cy="2103120"/>
          </a:xfrm>
          <a:prstGeom prst="rect">
            <a:avLst/>
          </a:prstGeom>
          <a:solidFill>
            <a:srgbClr val="1F5F99"/>
          </a:solidFill>
          <a:ln w="12700">
            <a:solidFill>
              <a:srgbClr val="1F5F99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56248" y="37947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3B66"/>
                </a:solidFill>
              </a:rPr>
              <a:t>Script yang Disarankan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556248" y="4160520"/>
            <a:ext cx="4526280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"start": "node server.js"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"dev": "nodemon server.js"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Gunakan npm run dev saat praktikum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7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Express.js: Kerangka Server Minimal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21792" y="804672"/>
            <a:ext cx="10515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A6A"/>
                </a:solidFill>
              </a:rPr>
              <a:t>Express menyederhanakan pembuatan route, middleware, dan response.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31520" y="1207008"/>
            <a:ext cx="5486400" cy="4754880"/>
          </a:xfrm>
          <a:prstGeom prst="roundRect">
            <a:avLst>
              <a:gd name="adj" fmla="val 1923"/>
            </a:avLst>
          </a:prstGeom>
          <a:solidFill>
            <a:srgbClr val="0B1D33"/>
          </a:solidFill>
          <a:ln w="12700">
            <a:solidFill>
              <a:srgbClr val="0B1D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353312"/>
            <a:ext cx="5157216" cy="44622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express = require('express');</a:t>
            </a:r>
            <a:endParaRPr lang="en-US" sz="1130" dirty="0"/>
          </a:p>
          <a:p>
            <a:pPr indent="0" marL="0">
              <a:buNone/>
            </a:pP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app = express();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PORT = 3000;</a:t>
            </a:r>
            <a:endParaRPr lang="en-US" sz="1130" dirty="0"/>
          </a:p>
          <a:p>
            <a:pPr indent="0" marL="0">
              <a:buNone/>
            </a:pP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app.get('/', (req, res) =&gt; {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res.send('Server Asisten AI UMKM aktif');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130" dirty="0"/>
          </a:p>
          <a:p>
            <a:pPr indent="0" marL="0">
              <a:buNone/>
            </a:pP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app.listen(PORT, () =&gt; {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console.log('Server berjalan di http://localhost:' + PORT);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130" dirty="0"/>
          </a:p>
        </p:txBody>
      </p:sp>
      <p:sp>
        <p:nvSpPr>
          <p:cNvPr id="6" name="Shape 4"/>
          <p:cNvSpPr/>
          <p:nvPr/>
        </p:nvSpPr>
        <p:spPr>
          <a:xfrm>
            <a:off x="6629400" y="1207008"/>
            <a:ext cx="4389120" cy="47548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629400" y="1207008"/>
            <a:ext cx="82296" cy="4754880"/>
          </a:xfrm>
          <a:prstGeom prst="rect">
            <a:avLst/>
          </a:prstGeom>
          <a:solidFill>
            <a:srgbClr val="23A455"/>
          </a:solidFill>
          <a:ln w="12700">
            <a:solidFill>
              <a:srgbClr val="23A455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30568" y="134416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3B66"/>
                </a:solidFill>
              </a:rPr>
              <a:t>Anatomi Kode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830568" y="1709928"/>
            <a:ext cx="4069080" cy="4114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require express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membuat app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menentukan PORT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mendefinisikan route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mengirim response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menyalakan server dengan listen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7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Siklus Request dan Response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21792" y="804672"/>
            <a:ext cx="10515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A6A"/>
                </a:solidFill>
              </a:rPr>
              <a:t>Setiap akses browser menghasilkan request; server mengembalikan response.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822960" y="1508760"/>
            <a:ext cx="246888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7552" y="1709928"/>
            <a:ext cx="530352" cy="530352"/>
          </a:xfrm>
          <a:prstGeom prst="ellipse">
            <a:avLst/>
          </a:prstGeom>
          <a:solidFill>
            <a:srgbClr val="1F5F99"/>
          </a:solidFill>
          <a:ln w="12700">
            <a:solidFill>
              <a:srgbClr val="1F5F99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5568" y="182880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645920" y="167335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73B66"/>
                </a:solidFill>
              </a:rPr>
              <a:t>Browser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1645920" y="19659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4B5A6A"/>
                </a:solidFill>
              </a:rPr>
              <a:t>Pengguna membuka URL atau klik tombol</a:t>
            </a:r>
            <a:endParaRPr lang="en-US" sz="960" dirty="0"/>
          </a:p>
        </p:txBody>
      </p:sp>
      <p:sp>
        <p:nvSpPr>
          <p:cNvPr id="9" name="Shape 7"/>
          <p:cNvSpPr/>
          <p:nvPr/>
        </p:nvSpPr>
        <p:spPr>
          <a:xfrm>
            <a:off x="3383280" y="1508760"/>
            <a:ext cx="246888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47872" y="1709928"/>
            <a:ext cx="530352" cy="530352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75888" y="182880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206240" y="167335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73B66"/>
                </a:solidFill>
              </a:rPr>
              <a:t>Request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4206240" y="19659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4B5A6A"/>
                </a:solidFill>
              </a:rPr>
              <a:t>HTTP request dikirim ke server</a:t>
            </a:r>
            <a:endParaRPr lang="en-US" sz="960" dirty="0"/>
          </a:p>
        </p:txBody>
      </p:sp>
      <p:sp>
        <p:nvSpPr>
          <p:cNvPr id="14" name="Shape 12"/>
          <p:cNvSpPr/>
          <p:nvPr/>
        </p:nvSpPr>
        <p:spPr>
          <a:xfrm>
            <a:off x="5943600" y="1508760"/>
            <a:ext cx="246888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08192" y="1709928"/>
            <a:ext cx="530352" cy="530352"/>
          </a:xfrm>
          <a:prstGeom prst="ellipse">
            <a:avLst/>
          </a:prstGeom>
          <a:solidFill>
            <a:srgbClr val="23A455"/>
          </a:solidFill>
          <a:ln w="12700">
            <a:solidFill>
              <a:srgbClr val="23A455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36208" y="182880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766560" y="167335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73B66"/>
                </a:solidFill>
              </a:rPr>
              <a:t>Express</a:t>
            </a:r>
            <a:endParaRPr lang="en-US" sz="1320" dirty="0"/>
          </a:p>
        </p:txBody>
      </p:sp>
      <p:sp>
        <p:nvSpPr>
          <p:cNvPr id="18" name="Text 16"/>
          <p:cNvSpPr/>
          <p:nvPr/>
        </p:nvSpPr>
        <p:spPr>
          <a:xfrm>
            <a:off x="6766560" y="19659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4B5A6A"/>
                </a:solidFill>
              </a:rPr>
              <a:t>Route dan middleware memproses request</a:t>
            </a:r>
            <a:endParaRPr lang="en-US" sz="960" dirty="0"/>
          </a:p>
        </p:txBody>
      </p:sp>
      <p:sp>
        <p:nvSpPr>
          <p:cNvPr id="19" name="Shape 17"/>
          <p:cNvSpPr/>
          <p:nvPr/>
        </p:nvSpPr>
        <p:spPr>
          <a:xfrm>
            <a:off x="8503920" y="1508760"/>
            <a:ext cx="246888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68512" y="1709928"/>
            <a:ext cx="530352" cy="530352"/>
          </a:xfrm>
          <a:prstGeom prst="ellipse">
            <a:avLst/>
          </a:prstGeom>
          <a:solidFill>
            <a:srgbClr val="17A398"/>
          </a:solidFill>
          <a:ln w="12700">
            <a:solidFill>
              <a:srgbClr val="17A398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796528" y="182880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326880" y="167335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73B66"/>
                </a:solidFill>
              </a:rPr>
              <a:t>Response</a:t>
            </a:r>
            <a:endParaRPr lang="en-US" sz="1320" dirty="0"/>
          </a:p>
        </p:txBody>
      </p:sp>
      <p:sp>
        <p:nvSpPr>
          <p:cNvPr id="23" name="Text 21"/>
          <p:cNvSpPr/>
          <p:nvPr/>
        </p:nvSpPr>
        <p:spPr>
          <a:xfrm>
            <a:off x="9326880" y="19659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4B5A6A"/>
                </a:solidFill>
              </a:rPr>
              <a:t>Server mengirim HTML, JSON, atau file</a:t>
            </a:r>
            <a:endParaRPr lang="en-US" sz="960" dirty="0"/>
          </a:p>
        </p:txBody>
      </p:sp>
      <p:sp>
        <p:nvSpPr>
          <p:cNvPr id="24" name="Shape 22"/>
          <p:cNvSpPr/>
          <p:nvPr/>
        </p:nvSpPr>
        <p:spPr>
          <a:xfrm>
            <a:off x="1051560" y="3840480"/>
            <a:ext cx="10012680" cy="1463040"/>
          </a:xfrm>
          <a:prstGeom prst="roundRect">
            <a:avLst>
              <a:gd name="adj" fmla="val 6250"/>
            </a:avLst>
          </a:prstGeom>
          <a:solidFill>
            <a:srgbClr val="0B1D33"/>
          </a:solidFill>
          <a:ln w="12700">
            <a:solidFill>
              <a:srgbClr val="0B1D33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16152" y="3986784"/>
            <a:ext cx="9683496" cy="11704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/api/status  →  Express route  →  res.json({ status: 'aktif' })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7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Dasar: Halaman dan API Kecil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21792" y="804672"/>
            <a:ext cx="10515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A6A"/>
                </a:solidFill>
              </a:rPr>
              <a:t>Route menentukan respons untuk URL tertentu.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77240" y="1143000"/>
            <a:ext cx="5669280" cy="4754880"/>
          </a:xfrm>
          <a:prstGeom prst="roundRect">
            <a:avLst>
              <a:gd name="adj" fmla="val 1923"/>
            </a:avLst>
          </a:prstGeom>
          <a:solidFill>
            <a:srgbClr val="0B1D33"/>
          </a:solidFill>
          <a:ln w="12700">
            <a:solidFill>
              <a:srgbClr val="0B1D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41832" y="1289304"/>
            <a:ext cx="5340096" cy="44622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app.get('/api/status', (req, res) =&gt; {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res.json({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status: 'aktif',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aplikasi: 'Asisten AI UMKM',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waktu: new Date().toISOString()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120" dirty="0"/>
          </a:p>
          <a:p>
            <a:pPr indent="0" marL="0">
              <a:buNone/>
            </a:pP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app.get('/api/produk', (req, res) =&gt; {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res.json(produkUMKM);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120" dirty="0"/>
          </a:p>
        </p:txBody>
      </p:sp>
      <p:sp>
        <p:nvSpPr>
          <p:cNvPr id="6" name="Shape 4"/>
          <p:cNvSpPr/>
          <p:nvPr/>
        </p:nvSpPr>
        <p:spPr>
          <a:xfrm>
            <a:off x="6812280" y="1143000"/>
            <a:ext cx="438912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12280" y="1143000"/>
            <a:ext cx="82296" cy="2103120"/>
          </a:xfrm>
          <a:prstGeom prst="rect">
            <a:avLst/>
          </a:prstGeom>
          <a:solidFill>
            <a:srgbClr val="1F5F99"/>
          </a:solidFill>
          <a:ln w="12700">
            <a:solidFill>
              <a:srgbClr val="1F5F99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13448" y="12801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3B66"/>
                </a:solidFill>
              </a:rPr>
              <a:t>HTML vs JSON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013448" y="1645920"/>
            <a:ext cx="4069080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HTML untuk ditampilkan browser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JSON untuk dikonsumsi JavaScript/frontend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API kecil membantu integrasi frontend-backend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6812280" y="3703320"/>
            <a:ext cx="438912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12280" y="3703320"/>
            <a:ext cx="82296" cy="219456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13448" y="38404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3B66"/>
                </a:solidFill>
              </a:rPr>
              <a:t>Praktik Baik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013448" y="4206240"/>
            <a:ext cx="4069080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Gunakan nama route jelas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Simpan data contoh terpisah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Uji dengan browser atau Thunder Client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Perhatikan status error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7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Middleware: Pemeriksaan di Tengah Jalan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21792" y="804672"/>
            <a:ext cx="10515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A6A"/>
                </a:solidFill>
              </a:rPr>
              <a:t>Middleware bekerja di antara request masuk dan route handler.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868680" y="1965960"/>
            <a:ext cx="210312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2128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B66"/>
                </a:solidFill>
              </a:rPr>
              <a:t>Request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5786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4B5A6A"/>
                </a:solidFill>
              </a:rPr>
              <a:t>Masuk dari browser</a:t>
            </a:r>
            <a:endParaRPr lang="en-US" sz="960" dirty="0"/>
          </a:p>
        </p:txBody>
      </p:sp>
      <p:sp>
        <p:nvSpPr>
          <p:cNvPr id="7" name="Shape 5"/>
          <p:cNvSpPr/>
          <p:nvPr/>
        </p:nvSpPr>
        <p:spPr>
          <a:xfrm>
            <a:off x="3108960" y="2304288"/>
            <a:ext cx="347472" cy="502920"/>
          </a:xfrm>
          <a:prstGeom prst="chevron">
            <a:avLst/>
          </a:prstGeom>
          <a:solidFill>
            <a:srgbClr val="A6B6C8"/>
          </a:solidFill>
          <a:ln w="12700">
            <a:solidFill>
              <a:srgbClr val="A6B6C8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0" y="1965960"/>
            <a:ext cx="2103120" cy="1143000"/>
          </a:xfrm>
          <a:prstGeom prst="roundRect">
            <a:avLst>
              <a:gd name="adj" fmla="val 12000"/>
            </a:avLst>
          </a:prstGeom>
          <a:solidFill>
            <a:srgbClr val="F28C28"/>
          </a:solidFill>
          <a:ln w="15240">
            <a:solidFill>
              <a:srgbClr val="F28C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94760" y="22128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Middleware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794760" y="25786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FFFFFF"/>
                </a:solidFill>
              </a:rPr>
              <a:t>Logging, parsing, validasi</a:t>
            </a:r>
            <a:endParaRPr lang="en-US" sz="960" dirty="0"/>
          </a:p>
        </p:txBody>
      </p:sp>
      <p:sp>
        <p:nvSpPr>
          <p:cNvPr id="11" name="Shape 9"/>
          <p:cNvSpPr/>
          <p:nvPr/>
        </p:nvSpPr>
        <p:spPr>
          <a:xfrm>
            <a:off x="5897880" y="2304288"/>
            <a:ext cx="347472" cy="502920"/>
          </a:xfrm>
          <a:prstGeom prst="chevron">
            <a:avLst/>
          </a:prstGeom>
          <a:solidFill>
            <a:srgbClr val="A6B6C8"/>
          </a:solidFill>
          <a:ln w="12700">
            <a:solidFill>
              <a:srgbClr val="A6B6C8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46520" y="1965960"/>
            <a:ext cx="210312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D9E2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22128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B66"/>
                </a:solidFill>
              </a:rPr>
              <a:t>Route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83680" y="25786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4B5A6A"/>
                </a:solidFill>
              </a:rPr>
              <a:t>Menentukan logika</a:t>
            </a:r>
            <a:endParaRPr lang="en-US" sz="960" dirty="0"/>
          </a:p>
        </p:txBody>
      </p:sp>
      <p:sp>
        <p:nvSpPr>
          <p:cNvPr id="15" name="Shape 13"/>
          <p:cNvSpPr/>
          <p:nvPr/>
        </p:nvSpPr>
        <p:spPr>
          <a:xfrm>
            <a:off x="8686800" y="2304288"/>
            <a:ext cx="347472" cy="502920"/>
          </a:xfrm>
          <a:prstGeom prst="chevron">
            <a:avLst/>
          </a:prstGeom>
          <a:solidFill>
            <a:srgbClr val="A6B6C8"/>
          </a:solidFill>
          <a:ln w="12700">
            <a:solidFill>
              <a:srgbClr val="A6B6C8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235440" y="1965960"/>
            <a:ext cx="210312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D9E2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72600" y="22128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B66"/>
                </a:solidFill>
              </a:rPr>
              <a:t>Response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372600" y="25786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4B5A6A"/>
                </a:solidFill>
              </a:rPr>
              <a:t>Dikirim ke pengguna</a:t>
            </a:r>
            <a:endParaRPr lang="en-US" sz="960" dirty="0"/>
          </a:p>
        </p:txBody>
      </p:sp>
      <p:sp>
        <p:nvSpPr>
          <p:cNvPr id="19" name="Shape 17"/>
          <p:cNvSpPr/>
          <p:nvPr/>
        </p:nvSpPr>
        <p:spPr>
          <a:xfrm>
            <a:off x="1874520" y="4251960"/>
            <a:ext cx="8321040" cy="960120"/>
          </a:xfrm>
          <a:prstGeom prst="roundRect">
            <a:avLst>
              <a:gd name="adj" fmla="val 9524"/>
            </a:avLst>
          </a:prstGeom>
          <a:solidFill>
            <a:srgbClr val="0B1D33"/>
          </a:solidFill>
          <a:ln w="12700">
            <a:solidFill>
              <a:srgbClr val="0B1D33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39112" y="4398264"/>
            <a:ext cx="7991856" cy="6675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app.use((req, res, next) =&gt; { console.log(req.method, req.url); next(); });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7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Middleware Bawaan Express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21792" y="804672"/>
            <a:ext cx="10515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A6A"/>
                </a:solidFill>
              </a:rPr>
              <a:t>Express memiliki middleware umum untuk JSON, form, dan static files.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77240" y="1188720"/>
            <a:ext cx="5715000" cy="4663440"/>
          </a:xfrm>
          <a:prstGeom prst="roundRect">
            <a:avLst>
              <a:gd name="adj" fmla="val 1961"/>
            </a:avLst>
          </a:prstGeom>
          <a:solidFill>
            <a:srgbClr val="0B1D33"/>
          </a:solidFill>
          <a:ln w="12700">
            <a:solidFill>
              <a:srgbClr val="0B1D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41832" y="1335024"/>
            <a:ext cx="5385816" cy="43708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app.use(express.json());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app.use(express.urlencoded({ extended: true }));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app.use(express.static('public'));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app.use((req, res, next) =&gt;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console.log('[' + new Date().toLocaleTimeString() + '] ' + req.method + ' ' + req.url);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next();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6812280" y="1188720"/>
            <a:ext cx="434340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12280" y="1188720"/>
            <a:ext cx="82296" cy="1280160"/>
          </a:xfrm>
          <a:prstGeom prst="rect">
            <a:avLst/>
          </a:prstGeom>
          <a:solidFill>
            <a:srgbClr val="23A455"/>
          </a:solidFill>
          <a:ln w="12700">
            <a:solidFill>
              <a:srgbClr val="23A455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13448" y="132588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3B66"/>
                </a:solidFill>
              </a:rPr>
              <a:t>express.json()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013448" y="1691640"/>
            <a:ext cx="402336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Membaca body JSON dari request.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6812280" y="2743200"/>
            <a:ext cx="434340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12280" y="2743200"/>
            <a:ext cx="82296" cy="1280160"/>
          </a:xfrm>
          <a:prstGeom prst="rect">
            <a:avLst/>
          </a:prstGeom>
          <a:solidFill>
            <a:srgbClr val="1F5F99"/>
          </a:solidFill>
          <a:ln w="12700">
            <a:solidFill>
              <a:srgbClr val="1F5F99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13448" y="288036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3B66"/>
                </a:solidFill>
              </a:rPr>
              <a:t>express.urlencoded()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013448" y="3246120"/>
            <a:ext cx="402336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Membaca data form standar.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6812280" y="4297680"/>
            <a:ext cx="434340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12280" y="4297680"/>
            <a:ext cx="82296" cy="128016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13448" y="443484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3B66"/>
                </a:solidFill>
              </a:rPr>
              <a:t>express.static()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7013448" y="4800600"/>
            <a:ext cx="402336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Melayani file dari folder public.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7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File Serving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21792" y="804672"/>
            <a:ext cx="10515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A6A"/>
                </a:solidFill>
              </a:rPr>
              <a:t>Server Express dapat melayani file frontend yang sudah dibuat pada pertemuan sebelumnya.</a:t>
            </a:r>
            <a:endParaRPr lang="en-US" sz="1250" dirty="0"/>
          </a:p>
        </p:txBody>
      </p:sp>
      <p:pic>
        <p:nvPicPr>
          <p:cNvPr id="4" name="Image 0" descr="/mnt/data/a_clean_flat_vector_illustration_of_a_web_page_lay.png">    </p:cNvPr>
          <p:cNvPicPr>
            <a:picLocks noChangeAspect="1"/>
          </p:cNvPicPr>
          <p:nvPr/>
        </p:nvPicPr>
        <p:blipFill>
          <a:blip r:embed="rId1"/>
          <a:srcRect l="20757" r="20757" t="0" b="0"/>
          <a:stretch/>
        </p:blipFill>
        <p:spPr>
          <a:xfrm>
            <a:off x="685800" y="1143000"/>
            <a:ext cx="4846320" cy="46634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035040" y="1143000"/>
            <a:ext cx="5303520" cy="2011680"/>
          </a:xfrm>
          <a:prstGeom prst="roundRect">
            <a:avLst>
              <a:gd name="adj" fmla="val 4545"/>
            </a:avLst>
          </a:prstGeom>
          <a:solidFill>
            <a:srgbClr val="0B1D33"/>
          </a:solidFill>
          <a:ln w="12700">
            <a:solidFill>
              <a:srgbClr val="0B1D33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199632" y="1289304"/>
            <a:ext cx="4974336" cy="17190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app.use(express.static('public'));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public/index.html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public/style.css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public/app.js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6035040" y="3520440"/>
            <a:ext cx="530352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035040" y="3520440"/>
            <a:ext cx="82296" cy="2331720"/>
          </a:xfrm>
          <a:prstGeom prst="rect">
            <a:avLst/>
          </a:prstGeom>
          <a:solidFill>
            <a:srgbClr val="23A455"/>
          </a:solidFill>
          <a:ln w="12700">
            <a:solidFill>
              <a:srgbClr val="23A455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236208" y="36576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3B66"/>
                </a:solidFill>
              </a:rPr>
              <a:t>Makna Praktis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6236208" y="4023360"/>
            <a:ext cx="4983480" cy="1691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Browser membuka http://localhost:3000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Express mencari public/index.html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CSS, JS, gambar ikut dilayani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Frontend dan backend mulai berada dalam satu proyek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7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Struktur Folder Praktikum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21792" y="804672"/>
            <a:ext cx="10515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A6A"/>
                </a:solidFill>
              </a:rPr>
              <a:t>Struktur ini menjaga backend, frontend static, middleware, dan data tetap rapi.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868680" y="1188720"/>
            <a:ext cx="5440680" cy="4663440"/>
          </a:xfrm>
          <a:prstGeom prst="roundRect">
            <a:avLst>
              <a:gd name="adj" fmla="val 1961"/>
            </a:avLst>
          </a:prstGeom>
          <a:solidFill>
            <a:srgbClr val="0B1D33"/>
          </a:solidFill>
          <a:ln w="12700">
            <a:solidFill>
              <a:srgbClr val="0B1D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3272" y="1335024"/>
            <a:ext cx="5111496" cy="43708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package.json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server.js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data/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produk.js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middleware/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requestLogger.js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public/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index.html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style.css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└── app.js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720840" y="1188720"/>
            <a:ext cx="4389120" cy="46634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20840" y="1188720"/>
            <a:ext cx="82296" cy="4663440"/>
          </a:xfrm>
          <a:prstGeom prst="rect">
            <a:avLst/>
          </a:prstGeom>
          <a:solidFill>
            <a:srgbClr val="1F5F99"/>
          </a:solidFill>
          <a:ln w="12700">
            <a:solidFill>
              <a:srgbClr val="1F5F99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22008" y="13258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3B66"/>
                </a:solidFill>
              </a:rPr>
              <a:t>Koneksi Materi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922008" y="1691640"/>
            <a:ext cx="4069080" cy="4023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server.js: pusat aplikasi Express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middleware: log request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data: data dummy UMKM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public: static frontend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API: /api/status dan /api/produk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7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Mini: Integrasi Frontend dan Backend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21792" y="804672"/>
            <a:ext cx="10515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A6A"/>
                </a:solidFill>
              </a:rPr>
              <a:t>Frontend memanggil endpoint API kecil dari server Express.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77240" y="1143000"/>
            <a:ext cx="5669280" cy="4754880"/>
          </a:xfrm>
          <a:prstGeom prst="roundRect">
            <a:avLst>
              <a:gd name="adj" fmla="val 1923"/>
            </a:avLst>
          </a:prstGeom>
          <a:solidFill>
            <a:srgbClr val="0B1D33"/>
          </a:solidFill>
          <a:ln w="12700">
            <a:solidFill>
              <a:srgbClr val="0B1D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41832" y="1289304"/>
            <a:ext cx="5340096" cy="44622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public/app.js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function loadProduk() {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response = await fetch('/api/produk');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data = await response.json();</a:t>
            </a:r>
            <a:endParaRPr lang="en-US" sz="930" dirty="0"/>
          </a:p>
          <a:p>
            <a:pPr indent="0" marL="0">
              <a:buNone/>
            </a:pP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list.innerHTML = data.map(item =&gt;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'&lt;li&gt;&lt;strong&gt;' + item.nama + '&lt;/strong&gt;&lt;br&gt;' +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item.kategori + ' · ' + item.keunggulan + '&lt;/li&gt;'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).join('');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30" dirty="0"/>
          </a:p>
        </p:txBody>
      </p:sp>
      <p:sp>
        <p:nvSpPr>
          <p:cNvPr id="6" name="Shape 4"/>
          <p:cNvSpPr/>
          <p:nvPr/>
        </p:nvSpPr>
        <p:spPr>
          <a:xfrm>
            <a:off x="6812280" y="1143000"/>
            <a:ext cx="4389120" cy="47548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12280" y="1143000"/>
            <a:ext cx="82296" cy="4754880"/>
          </a:xfrm>
          <a:prstGeom prst="rect">
            <a:avLst/>
          </a:prstGeom>
          <a:solidFill>
            <a:srgbClr val="23A455"/>
          </a:solidFill>
          <a:ln w="12700">
            <a:solidFill>
              <a:srgbClr val="23A455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13448" y="12801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3B66"/>
                </a:solidFill>
              </a:rPr>
              <a:t>Yang Terjadi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013448" y="1645920"/>
            <a:ext cx="4069080" cy="4114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Browser memuat public/index.html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app.js menjalankan fetch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Express menerima GET /api/produk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Server mengirim JSON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DOM menampilkan data UMKM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7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Troubleshooting Praktikum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21792" y="804672"/>
            <a:ext cx="10515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A6A"/>
                </a:solidFill>
              </a:rPr>
              <a:t>Kesalahan umum saat memulai Node.js dan Express.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3429000" cy="466344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188720"/>
            <a:ext cx="82296" cy="4663440"/>
          </a:xfrm>
          <a:prstGeom prst="rect">
            <a:avLst/>
          </a:prstGeom>
          <a:solidFill>
            <a:srgbClr val="E94F37"/>
          </a:solidFill>
          <a:ln w="12700">
            <a:solidFill>
              <a:srgbClr val="E94F3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3258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3B66"/>
                </a:solidFill>
              </a:rPr>
              <a:t>Port Sudah Dipakai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32688" y="1691640"/>
            <a:ext cx="3108960" cy="4023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Pesan: EADDRINUSE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Ganti PORT ke 3001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Tutup proses lama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Restart terminal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4434840" y="1188720"/>
            <a:ext cx="3429000" cy="466344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34840" y="1188720"/>
            <a:ext cx="82296" cy="466344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36008" y="13258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3B66"/>
                </a:solidFill>
              </a:rPr>
              <a:t>Module Tidak Ditemukan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636008" y="1691640"/>
            <a:ext cx="3108960" cy="4023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Jalankan npm install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Pastikan berada di folder src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Cek package.json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Hindari typo nama file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8138160" y="1188720"/>
            <a:ext cx="3429000" cy="466344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38160" y="1188720"/>
            <a:ext cx="82296" cy="4663440"/>
          </a:xfrm>
          <a:prstGeom prst="rect">
            <a:avLst/>
          </a:prstGeom>
          <a:solidFill>
            <a:srgbClr val="1F5F99"/>
          </a:solidFill>
          <a:ln w="12700">
            <a:solidFill>
              <a:srgbClr val="1F5F99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39328" y="13258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3B66"/>
                </a:solidFill>
              </a:rPr>
              <a:t>Static File Tidak Muncul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339328" y="1691640"/>
            <a:ext cx="3108960" cy="4023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Cek nama folder public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Cek path CSS/JS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Buka localhost, bukan file langsung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Cek console dan network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7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 Pengumpulan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21792" y="804672"/>
            <a:ext cx="10515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A6A"/>
                </a:solidFill>
              </a:rPr>
              <a:t>Gunakan checklist sebelum mengumpulkan folder tugas.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5120640" cy="4709160"/>
          </a:xfrm>
          <a:prstGeom prst="roundRect">
            <a:avLst>
              <a:gd name="adj" fmla="val 233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188720"/>
            <a:ext cx="82296" cy="4709160"/>
          </a:xfrm>
          <a:prstGeom prst="rect">
            <a:avLst/>
          </a:prstGeom>
          <a:solidFill>
            <a:srgbClr val="23A455"/>
          </a:solidFill>
          <a:ln w="12700">
            <a:solidFill>
              <a:srgbClr val="23A455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3258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3B66"/>
                </a:solidFill>
              </a:rPr>
              <a:t>Checklist Minimum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32688" y="1691640"/>
            <a:ext cx="4800600" cy="4069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npm run dev berjalan tanpa error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Halaman frontend tampil di localhost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Endpoint /api/status mengirim JSON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Endpoint /api/produk mengirim data array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Middleware logger mencatat request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Static CSS dan JS terbaca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6400800" y="1188720"/>
            <a:ext cx="4937760" cy="4709160"/>
          </a:xfrm>
          <a:prstGeom prst="roundRect">
            <a:avLst>
              <a:gd name="adj" fmla="val 233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188720"/>
            <a:ext cx="82296" cy="470916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01968" y="1325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3B66"/>
                </a:solidFill>
              </a:rPr>
              <a:t>Rubrik Ringkas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601968" y="1691640"/>
            <a:ext cx="4617720" cy="4069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Setup proyek: 15%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Server Express: 25%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Middleware: 15%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Static file: 20%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API kecil: 15%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Kerapian &amp; laporan: 10%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7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Penutup dan Koneksi Pertemuan 7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21792" y="804672"/>
            <a:ext cx="10515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A6A"/>
                </a:solidFill>
              </a:rPr>
              <a:t>Backend awal sudah berjalan; selanjutnya endpoint akan disusun sebagai REST API.</a:t>
            </a:r>
            <a:endParaRPr lang="en-US" sz="1250" dirty="0"/>
          </a:p>
        </p:txBody>
      </p:sp>
      <p:pic>
        <p:nvPicPr>
          <p:cNvPr id="4" name="Image 0" descr="/mnt/data/a_wide_detailed_classroom_lecture_scene._overall.png">    </p:cNvPr>
          <p:cNvPicPr>
            <a:picLocks noChangeAspect="1"/>
          </p:cNvPicPr>
          <p:nvPr/>
        </p:nvPicPr>
        <p:blipFill>
          <a:blip r:embed="rId1"/>
          <a:srcRect l="17756" r="17756" t="0" b="0"/>
          <a:stretch/>
        </p:blipFill>
        <p:spPr>
          <a:xfrm>
            <a:off x="685800" y="1234440"/>
            <a:ext cx="5029200" cy="43891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172200" y="1234440"/>
            <a:ext cx="521208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172200" y="1234440"/>
            <a:ext cx="82296" cy="1234440"/>
          </a:xfrm>
          <a:prstGeom prst="rect">
            <a:avLst/>
          </a:prstGeom>
          <a:solidFill>
            <a:srgbClr val="23A455"/>
          </a:solidFill>
          <a:ln w="12700">
            <a:solidFill>
              <a:srgbClr val="23A455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373368" y="13716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3B66"/>
                </a:solidFill>
              </a:rPr>
              <a:t>Hari Ini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373368" y="1737360"/>
            <a:ext cx="48920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Node.js runtime, Express.js, middleware, dan static file serving.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6172200" y="2743200"/>
            <a:ext cx="521208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172200" y="2743200"/>
            <a:ext cx="82296" cy="1234440"/>
          </a:xfrm>
          <a:prstGeom prst="rect">
            <a:avLst/>
          </a:prstGeom>
          <a:solidFill>
            <a:srgbClr val="1F5F99"/>
          </a:solidFill>
          <a:ln w="12700">
            <a:solidFill>
              <a:srgbClr val="1F5F99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373368" y="28803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3B66"/>
                </a:solidFill>
              </a:rPr>
              <a:t>Hasil Minimal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6373368" y="3246120"/>
            <a:ext cx="48920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Server lokal yang melayani frontend dan API data dummy UMKM.</a:t>
            </a:r>
            <a:endParaRPr lang="en-US" sz="1080" dirty="0"/>
          </a:p>
        </p:txBody>
      </p:sp>
      <p:sp>
        <p:nvSpPr>
          <p:cNvPr id="13" name="Shape 10"/>
          <p:cNvSpPr/>
          <p:nvPr/>
        </p:nvSpPr>
        <p:spPr>
          <a:xfrm>
            <a:off x="6172200" y="4251960"/>
            <a:ext cx="521208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172200" y="4251960"/>
            <a:ext cx="82296" cy="123444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373368" y="43891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3B66"/>
                </a:solidFill>
              </a:rPr>
              <a:t>Berikutnya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6373368" y="4754880"/>
            <a:ext cx="48920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REST API: method HTTP, endpoint, kontrak data, dan JSON.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7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Universitas Muhammadiyah Yogyakarta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Pertemuan 6 - Node.js Runtime, Express.js, Middleware, dan Static File Serving</dc:title>
  <dc:subject>TI-501 Pengembangan Aplikasi Web - Pertemuan 6</dc:subject>
  <dc:creator>Program Studi Teknologi Informasi UMY</dc:creator>
  <cp:lastModifiedBy>Program Studi Teknologi Informasi UMY</cp:lastModifiedBy>
  <cp:revision>1</cp:revision>
  <dcterms:created xsi:type="dcterms:W3CDTF">2026-07-19T04:52:03Z</dcterms:created>
  <dcterms:modified xsi:type="dcterms:W3CDTF">2026-07-19T04:52:03Z</dcterms:modified>
</cp:coreProperties>
</file>