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Awali dengan menghubungkan pertemuan 3 tentang CSS responsif dengan kebutuhan desain yang berpusat pada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pertemuan ini bukan lomba membuat desain indah, melainkan merancang pengalaman pengguna yang jelas, mudah dipakai, dan sesuai kebutuhan UMKM.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untuk menjaga kesinambungan materi.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Berikan contoh dari aplikasi kampus, e-commerce, atau layanan pesan makanan agar mudah dipahami.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proses ini iteratif, bukan linier sekali jalan.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dapat dibuat ringkas. Tidak perlu penelitian mendalam untuk tugas praktikum awal, tetapi tetap harus masuk akal.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membuat satu user flow utama sebelum menggambar wireframe.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bahwa wireframe bisa dibuat di kertas, papan tulis, atau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Prinsip ini tidak perlu dihafal seluruhnya, tetapi digunakan sebagai checklist desain.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tidak memakai Figma, mahasiswa dapat menggunakan alat serupa, tetapi Figma disarankan untuk konsistensi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hubungan antarhalaman: dari beranda ke form, dari form ke hasil, dan kemungkinan kembali mengedit.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aksesibilitas dan etika penggunaan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bahwa hasil dikumpulkan sebagai tautan Figma/PDF dan dokumentasi 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tidak semua mahasiswa memiliki akun Figma, minta eksport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sebagai checklist sebelum mahasiswa mengumpulkan tugas.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Akhiri dengan meminta 2-3 mahasiswa mempresentasikan alur prototype secara 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5D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TI-501 Pengembangan Aplikasi Web · Pertemuan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288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bright_classroom_meeting_room_scene_with_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0">
              <a:alpha val="75000"/>
            </a:srgbClr>
          </a:solidFill>
          <a:ln w="12700">
            <a:solidFill>
              <a:srgbClr val="071B3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71B30">
              <a:alpha val="95000"/>
            </a:srgbClr>
          </a:solidFill>
          <a:ln w="12700">
            <a:solidFill>
              <a:srgbClr val="071B3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85800"/>
            <a:ext cx="3977640" cy="310896"/>
          </a:xfrm>
          <a:prstGeom prst="roundRect">
            <a:avLst>
              <a:gd name="adj" fmla="val 23529"/>
            </a:avLst>
          </a:prstGeom>
          <a:solidFill>
            <a:srgbClr val="F28C28">
              <a:alpha val="97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758952"/>
            <a:ext cx="3831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CPMK51 · Design Thinking · Wireframe · Prototype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D7F0"/>
                </a:solidFill>
              </a:rPr>
              <a:t>Pertemuan 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UI/UX Design, Wireframing, dan Prototyping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85800" y="5623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Pengembangan Aplikasi Web (TI-501)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Program Studi Teknologi Informasi UMY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Setelah sesi ini, mahasiswa memahami bagaimana ide aplikasi diubah menjadi rancangan antarmuka.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82296" cy="42976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Kompetensi Utama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0136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Menjelaskan prinsip UI/UX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Menerapkan design thinking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Menghasilkan wireframe dasar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Membuat prototype low-fidelity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82296" cy="4297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Produk Pertemuan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80136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User flow Asisten AI UMKM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Wireframe 3 halaman utama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Prototype low-fidelity di Figma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Dokumentasi alasan desain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25880"/>
            <a:ext cx="82296" cy="429768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Koneksi RPS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801368"/>
            <a:ext cx="292608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Pertemuan 4: UI/UX design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Wireframing dan prototyping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Berbasis studi kasus semester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Bobot aktivitas: 3%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Struktur ke Pengalaman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HTML dan CSS membentuk tampilan; UI/UX memastikan tampilan tersebut mudah dipahami pengguna.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2402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591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P1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Konteks web modern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63824" y="2514600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2148840"/>
            <a:ext cx="22402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3591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P2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Struktur HTML semantik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52744" y="2514600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2402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591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P3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Layout responsif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41664" y="2514600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2148840"/>
            <a:ext cx="2240280" cy="123444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3591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26517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Rancangan pengalaman pengguna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A6A"/>
                </a:solidFill>
              </a:rPr>
              <a:t>Pertemuan 4 menempatkan pengguna sebagai pusat keputusan desain: halaman apa yang dibutuhkan, urutan interaksi seperti apa, dan informasi mana yang harus paling mudah ditemukan.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dan UX: Beda tetapi Saling Terkait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UI adalah apa yang dilihat pengguna; UX adalah apa yang dirasakan dan dialami pengguna.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8920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82296" cy="42062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173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User Interface (UI)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755648"/>
            <a:ext cx="45720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Layout halaman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Warna dan tipografi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Tombol, form, ikon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Konsistensi visual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Keterbacaan elemen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48920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82296" cy="4206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4173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User Experience (UX)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1755648"/>
            <a:ext cx="45720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Alur yang mudah diikuti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Kebutuhan pengguna terpenuhi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Minim kebingungan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Aksesibel untuk semua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Efisien dan menyenangkan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1143000" y="5806440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Contoh: tombol terlihat menarik adalah UI. Pengguna paham kapan dan mengapa menekan tombol tersebut adalah UX.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untuk Aplikasi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Cara berpikir sistematis agar solusi tidak hanya “berfungsi”, tetapi juga berguna.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51560" cy="1051560"/>
          </a:xfrm>
          <a:prstGeom prst="ellipse">
            <a:avLst/>
          </a:prstGeom>
          <a:solidFill>
            <a:srgbClr val="1F5F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" y="20756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Empathize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Pahami pengguna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20240" y="2121408"/>
            <a:ext cx="347472" cy="457200"/>
          </a:xfrm>
          <a:prstGeom prst="chevron">
            <a:avLst/>
          </a:prstGeom>
          <a:solidFill>
            <a:srgbClr val="B8C6D6"/>
          </a:solidFill>
          <a:ln w="12700">
            <a:solidFill>
              <a:srgbClr val="B8C6D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28800"/>
            <a:ext cx="1051560" cy="10515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20756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Define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Rumuskan masalah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2121408"/>
            <a:ext cx="347472" cy="457200"/>
          </a:xfrm>
          <a:prstGeom prst="chevron">
            <a:avLst/>
          </a:prstGeom>
          <a:solidFill>
            <a:srgbClr val="B8C6D6"/>
          </a:solidFill>
          <a:ln w="12700">
            <a:solidFill>
              <a:srgbClr val="B8C6D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828800"/>
            <a:ext cx="1051560" cy="1051560"/>
          </a:xfrm>
          <a:prstGeom prst="ellipse">
            <a:avLst/>
          </a:prstGeom>
          <a:solidFill>
            <a:srgbClr val="1F5F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8424" y="20756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Ideate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Cari alternatif solusi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2121408"/>
            <a:ext cx="347472" cy="457200"/>
          </a:xfrm>
          <a:prstGeom prst="chevron">
            <a:avLst/>
          </a:prstGeom>
          <a:solidFill>
            <a:srgbClr val="B8C6D6"/>
          </a:solidFill>
          <a:ln w="12700">
            <a:solidFill>
              <a:srgbClr val="B8C6D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828800"/>
            <a:ext cx="1051560" cy="10515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20756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4380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Prototype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Buat rancangan cepat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5400" y="2121408"/>
            <a:ext cx="347472" cy="457200"/>
          </a:xfrm>
          <a:prstGeom prst="chevron">
            <a:avLst/>
          </a:prstGeom>
          <a:solidFill>
            <a:srgbClr val="B8C6D6"/>
          </a:solidFill>
          <a:ln w="12700">
            <a:solidFill>
              <a:srgbClr val="B8C6D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12680" y="1828800"/>
            <a:ext cx="1051560" cy="1051560"/>
          </a:xfrm>
          <a:prstGeom prst="ellipse">
            <a:avLst/>
          </a:prstGeom>
          <a:solidFill>
            <a:srgbClr val="1F5F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41864" y="20756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7552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Test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Uji dan perbaiki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5840" y="4800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A6A"/>
                </a:solidFill>
              </a:rPr>
              <a:t>Dalam studi kasus Asisten AI UMKM, design thinking membantu mahasiswa menghindari fitur yang “keren” tetapi tidak menjawab masalah pemilik UMKM.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Persona: Siapa Pengguna Kita?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Persona membantu tim membuat keputusan desain berdasarkan kebutuhan pengguna, bukan asumsi pribadi.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931920" cy="4434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700784"/>
            <a:ext cx="1143000" cy="1143000"/>
          </a:xfrm>
          <a:prstGeom prst="ellipse">
            <a:avLst/>
          </a:prstGeom>
          <a:solidFill>
            <a:srgbClr val="DDECF8"/>
          </a:solidFill>
          <a:ln w="15240">
            <a:solidFill>
              <a:srgbClr val="1F5F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Pemilik UMKM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468880" y="2057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Butuh promosi cepat, tidak terbiasa membuat caption, dan mengelola pesanan lewat chat.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66360" y="132588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325880"/>
            <a:ext cx="82296" cy="44348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Data Persona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67528" y="1801368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Tujuan pengguna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Hambatan utama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Kebiasaan digital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Konteks perangkat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Tingkat literasi teknologi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366760" y="132588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325880"/>
            <a:ext cx="82296" cy="44348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Manfaat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67928" y="1801368"/>
            <a:ext cx="25146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Membantu prioritas fitur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Menyederhanakan alur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Menentukan bahasa antarmuka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Mengurangi asumsi desain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Flow: Alur Pengguna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User flow menunjukkan langkah pengguna dari tujuan awal hingga tugas selesai.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214884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Masuk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" y="2514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A6A"/>
                </a:solidFill>
              </a:rPr>
              <a:t>Pemilik UMKM membuka aplikasi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96312" y="2286000"/>
            <a:ext cx="310896" cy="438912"/>
          </a:xfrm>
          <a:prstGeom prst="chevron">
            <a:avLst/>
          </a:prstGeom>
          <a:solidFill>
            <a:srgbClr val="A7B8C9"/>
          </a:solidFill>
          <a:ln w="12700">
            <a:solidFill>
              <a:srgbClr val="A7B8C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4884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Isi Produk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54096" y="2514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A6A"/>
                </a:solidFill>
              </a:rPr>
              <a:t>Nama, deskripsi, keunggulan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28032" y="2286000"/>
            <a:ext cx="310896" cy="438912"/>
          </a:xfrm>
          <a:prstGeom prst="chevron">
            <a:avLst/>
          </a:prstGeom>
          <a:solidFill>
            <a:srgbClr val="A7B8C9"/>
          </a:solidFill>
          <a:ln w="12700">
            <a:solidFill>
              <a:srgbClr val="A7B8C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14884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Generate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85816" y="2514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A6A"/>
                </a:solidFill>
              </a:rPr>
              <a:t>Aplikasi membuat caption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59752" y="2286000"/>
            <a:ext cx="310896" cy="438912"/>
          </a:xfrm>
          <a:prstGeom prst="chevron">
            <a:avLst/>
          </a:prstGeom>
          <a:solidFill>
            <a:srgbClr val="A7B8C9"/>
          </a:solidFill>
          <a:ln w="12700">
            <a:solidFill>
              <a:srgbClr val="A7B8C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14884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Edit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17536" y="2514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A6A"/>
                </a:solidFill>
              </a:rPr>
              <a:t>Pengguna menyesuaikan hasil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91472" y="2286000"/>
            <a:ext cx="310896" cy="438912"/>
          </a:xfrm>
          <a:prstGeom prst="chevron">
            <a:avLst/>
          </a:prstGeom>
          <a:solidFill>
            <a:srgbClr val="A7B8C9"/>
          </a:solidFill>
          <a:ln w="12700">
            <a:solidFill>
              <a:srgbClr val="A7B8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0968" y="214884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Simpan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49256" y="2514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A6A"/>
                </a:solidFill>
              </a:rPr>
              <a:t>Hasil siap dipakai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4709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A6A"/>
                </a:solidFill>
              </a:rPr>
              <a:t>Kriteria alur yang baik: langkah sedikit, istilah mudah dipahami, kesalahan mudah diperbaiki, dan hasil akhir jelas.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Wireframe: Sketsa Struktur Halaman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Wireframe berfokus pada struktur dan prioritas informasi, belum pada warna dan dekorasi.</a:t>
            </a:r>
            <a:endParaRPr lang="en-US" sz="1250" dirty="0"/>
          </a:p>
        </p:txBody>
      </p:sp>
      <p:pic>
        <p:nvPicPr>
          <p:cNvPr id="4" name="Image 0" descr="/mnt/data/a_clean_flat_vector_illustration_of_a_web_page_lay.png">    </p:cNvPr>
          <p:cNvPicPr>
            <a:picLocks noChangeAspect="1"/>
          </p:cNvPicPr>
          <p:nvPr/>
        </p:nvPicPr>
        <p:blipFill>
          <a:blip r:embed="rId1"/>
          <a:srcRect l="16348" r="16348" t="0" b="0"/>
          <a:stretch/>
        </p:blipFill>
        <p:spPr>
          <a:xfrm>
            <a:off x="640080" y="1234440"/>
            <a:ext cx="5303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23444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6520" y="1234440"/>
            <a:ext cx="82296" cy="1143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47688" y="1371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Tujuan Wireframe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47688" y="1709928"/>
            <a:ext cx="4434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Menentukan area utama halaman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Menata hierarki informasi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6446520" y="260604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60604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7688" y="2743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Level Fidelitas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47688" y="3081528"/>
            <a:ext cx="4434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Low-fidelity: sketsa kasar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Mid-fidelity: lebih terstruktur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6446520" y="3977640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3977640"/>
            <a:ext cx="82296" cy="123444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47688" y="4114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Hal yang Dihindari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47688" y="4453128"/>
            <a:ext cx="4434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Terlalu cepat memilih warna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Membahas estetika sebelum alur jelas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Heuristics yang Praktis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Gunakan prinsip sederhana untuk menilai apakah rancangan mudah digunakan.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82296" cy="18288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Kejelasan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09928"/>
            <a:ext cx="3154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Status sistem terlihat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Label tombol mudah dipahami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Instruksi tidak ambigu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82296" cy="18288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Konsistensi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709928"/>
            <a:ext cx="3154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Pola navigasi sama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Istilah tidak berubah-ubah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Komponen seragam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234440"/>
            <a:ext cx="82296" cy="18288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Pencegahan Error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709928"/>
            <a:ext cx="3154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Validasi input jelas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Konfirmasi aksi penting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Pesan error membantu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2514600" y="3657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3657600"/>
            <a:ext cx="82296" cy="160020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Efisiensi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15768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Langkah ringkas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Informasi prioritas di depan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Tidak memaksa input berulang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657600"/>
            <a:ext cx="82296" cy="160020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Aksesibilitas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4808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Kontras memadai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Bisa digunakan keyboard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Teks alternatif untuk gambar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untuk Prototyping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Figma digunakan untuk membuat frame, komponen, alur, dan prototype tanpa coding.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82296" cy="14173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Frame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80136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Area layar: desktop/mobile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25880"/>
            <a:ext cx="82296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Shape &amp; 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180136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Elemen visual dasar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25880"/>
            <a:ext cx="82296" cy="14173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Auto Layout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180136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Merapikan jarak dan susunan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91840"/>
            <a:ext cx="82296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29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Component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376732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Elemen yang bisa dipakai ulang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4480560" y="32918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91840"/>
            <a:ext cx="82296" cy="14173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429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Prototype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376732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Menghubungkan antar-halaman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1005840" y="56692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Target praktikum: bukan desain final, tetapi prototype low-fidelity yang bisa diklik untuk menjelaskan alur pengguna.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untuk Asisten AI UMKM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Minimal terdiri dari tiga halaman utama yang saling terhubung.</a:t>
            </a:r>
            <a:endParaRPr lang="en-US" sz="1250" dirty="0"/>
          </a:p>
        </p:txBody>
      </p:sp>
      <p:pic>
        <p:nvPicPr>
          <p:cNvPr id="4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18306" r="18306" t="0" b="0"/>
          <a:stretch/>
        </p:blipFill>
        <p:spPr>
          <a:xfrm>
            <a:off x="594360" y="1143000"/>
            <a:ext cx="48920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234440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234440"/>
            <a:ext cx="82296" cy="1143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0488" y="13716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Halaman 1: Beranda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90488" y="1709928"/>
            <a:ext cx="4937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Penjelasan singkat aplikasi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Tombol mulai yang jelas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5989320" y="2697480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269748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28346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Halaman 2: Form Produk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90488" y="3172968"/>
            <a:ext cx="4937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Input nama produk, keunggulan, target pembeli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Tombol generate caption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989320" y="4160520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4160520"/>
            <a:ext cx="82296" cy="11430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0488" y="42976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Halaman 3: Hasil AI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90488" y="4636008"/>
            <a:ext cx="4937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Caption yang dapat disalin atau diedit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Navigasi kembali untuk revisi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AIK dalam Desain UI/UX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Desain antarmuka adalah bagian dari amanah karena menentukan kemudahan akses pengguna.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82296" cy="42976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Al-‘Adl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70992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Desain tidak menyulitkan pengguna tertentu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Aksesibilitas untuk ragam perangkat dan kemampuan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82296" cy="429768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Rahmah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70992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Bahasa antarmuka ramah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Pesan error tidak menyalahkan pengguna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82296" cy="4297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Amanah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70992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Data pengguna diperlakukan hati-hati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Alur tidak menipu atau memanipulasi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Aktivitas Praktikum Pertemuan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Mahasiswa membuat rancangan low-fidelity, bukan implementasi kode final.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82296" cy="43434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Langkah 1–2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09928"/>
            <a:ext cx="31089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Pilih persona UMKM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Rumuskan tujuan pengguna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Buat user flow utama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234440"/>
            <a:ext cx="82296" cy="4343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Langkah 3–4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709928"/>
            <a:ext cx="31089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Buat wireframe 3 halaman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Susun layout dan prioritas informasi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Gunakan prinsip semantik dan aksesibilitas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82296" cy="43434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Langkah 5–6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709928"/>
            <a:ext cx="31089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Hubungkan frame menjadi prototype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Uji dengan checklist heuristik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Tulis refleksi desain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Penilaian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Penilaian berfokus pada ketepatan rancangan, bukan keindahan visual semata.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EEF4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3807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Persona &amp; masalah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46920" y="1380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5F99"/>
                </a:solidFill>
              </a:rPr>
              <a:t>20%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020824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671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User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46920" y="2167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20%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807208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EEF4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953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Wireframe 3 halaman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46920" y="2953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5F99"/>
                </a:solidFill>
              </a:rPr>
              <a:t>25%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593592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739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Prototype klik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46920" y="3739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20%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379976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EEF4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5262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Refleksi &amp; kerapian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46920" y="4526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5F99"/>
                </a:solidFill>
              </a:rPr>
              <a:t>15%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A6A"/>
                </a:solidFill>
              </a:rPr>
              <a:t>Keluaran: tautan Figma atau PDF prototype + file refleksi singkat. Bobot mengikuti komponen tugas pertemuan.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 yang Perlu Dihindari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Kualitas desain sering turun bukan karena kurang dekorasi, tetapi karena alurnya tidak jelas.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987552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00" dirty="0">
                <a:solidFill>
                  <a:srgbClr val="4B5A6A"/>
                </a:solidFill>
              </a:rPr>
              <a:t>Langsung memilih warna dan ikon sebelum alur jelas.</a:t>
            </a:r>
            <a:endParaRPr lang="en-US" sz="2000" dirty="0"/>
          </a:p>
          <a:p>
            <a:r>
              <a:rPr lang="en-US" sz="2000" dirty="0">
                <a:solidFill>
                  <a:srgbClr val="4B5A6A"/>
                </a:solidFill>
              </a:rPr>
              <a:t>Tombol utama tidak terlihat atau terlalu banyak pilihan.</a:t>
            </a:r>
            <a:endParaRPr lang="en-US" sz="2000" dirty="0"/>
          </a:p>
          <a:p>
            <a:r>
              <a:rPr lang="en-US" sz="2000" dirty="0">
                <a:solidFill>
                  <a:srgbClr val="4B5A6A"/>
                </a:solidFill>
              </a:rPr>
              <a:t>Label form tidak spesifik sehingga pengguna ragu mengisi.</a:t>
            </a:r>
            <a:endParaRPr lang="en-US" sz="2000" dirty="0"/>
          </a:p>
          <a:p>
            <a:r>
              <a:rPr lang="en-US" sz="2000" dirty="0">
                <a:solidFill>
                  <a:srgbClr val="4B5A6A"/>
                </a:solidFill>
              </a:rPr>
              <a:t>Tidak ada skenario error atau validasi input.</a:t>
            </a:r>
            <a:endParaRPr lang="en-US" sz="2000" dirty="0"/>
          </a:p>
          <a:p>
            <a:r>
              <a:rPr lang="en-US" sz="2000" dirty="0">
                <a:solidFill>
                  <a:srgbClr val="4B5A6A"/>
                </a:solidFill>
              </a:rPr>
              <a:t>Prototype tidak bisa menjelaskan perjalanan pengguna.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" y="5577840"/>
            <a:ext cx="9875520" cy="502920"/>
          </a:xfrm>
          <a:prstGeom prst="roundRect">
            <a:avLst>
              <a:gd name="adj" fmla="val 21818"/>
            </a:avLst>
          </a:prstGeom>
          <a:solidFill>
            <a:srgbClr val="FFF1E4"/>
          </a:solidFill>
          <a:ln w="12700">
            <a:solidFill>
              <a:srgbClr val="F8D5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573328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Prinsip utama: desain yang baik mengurangi beban berpikir pengguna.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dan Persiapan Pertemuan Berikutnya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Pertemuan berikutnya masuk ke JavaScript untuk interaktivitas web.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82296" cy="44348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Dikumpulkan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Link Figma / PDF prototype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User flow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Wireframe 3 halaman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Refleksi keputusan desain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82296" cy="44348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Standar Minimum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Ada persona pengguna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Alur bisa diikuti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Komponen konsisten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Aksesibilitas dasar diperhatikan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82296" cy="44348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Persiapan P5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Review JavaScript dasar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DOM dan event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Fetch API sebagai pengantar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A6A"/>
                </a:solidFill>
              </a:rPr>
              <a:t>• Siapkan editor kode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Diskusi penutup: fitur apa yang paling penting untuk pengguna UMKM pada prototype Anda?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4 - UI/UX, Wireframing, dan Prototyping</dc:title>
  <dc:subject>TI-501 Pengembangan Aplikasi Web - Pertemuan 4</dc:subject>
  <dc:creator>Program Studi Teknologi Informasi UMY</dc:creator>
  <cp:lastModifiedBy>Program Studi Teknologi Informasi UMY</cp:lastModifiedBy>
  <cp:revision>1</cp:revision>
  <dcterms:created xsi:type="dcterms:W3CDTF">2026-07-19T04:18:58Z</dcterms:created>
  <dcterms:modified xsi:type="dcterms:W3CDTF">2026-07-19T04:18:58Z</dcterms:modified>
</cp:coreProperties>
</file>