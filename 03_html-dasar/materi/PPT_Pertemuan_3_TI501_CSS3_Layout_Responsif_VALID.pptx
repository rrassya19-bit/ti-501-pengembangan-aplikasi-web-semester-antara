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65392"/>
            <a:ext cx="1106424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601968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TI-501 Pengembangan Aplikasi Web • Pertemuan 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mnt/data/a_wide_bright_classroom_meeting_room_scene_with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777240"/>
            <a:ext cx="480060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234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8C28"/>
                </a:solidFill>
              </a:rPr>
              <a:t>PERTEMUAN 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777240" y="1627632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CSS3 Layout Responsif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804672" y="2788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673"/>
                </a:solidFill>
              </a:rPr>
              <a:t>Box Model • Flexbox • Grid • Media Query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86384" y="3273552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9536" y="334213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CPMK52 • Praktikum 3%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04672" y="59893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673"/>
                </a:solidFill>
              </a:rPr>
              <a:t>TI-501 Pengembangan Aplikasi Web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Posisi Pertemuan 3 dalam RPS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Lanjutan dari Pertemuan 2: struktur HTML semantik → styling dan layout responsif.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1600200" cy="1097280"/>
          </a:xfrm>
          <a:prstGeom prst="roundRect">
            <a:avLst>
              <a:gd name="adj" fmla="val 11667"/>
            </a:avLst>
          </a:prstGeom>
          <a:solidFill>
            <a:srgbClr val="F7FBFF"/>
          </a:solidFill>
          <a:ln w="15240">
            <a:solidFill>
              <a:srgbClr val="BED2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408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6"/>
                </a:solidFill>
              </a:rPr>
              <a:t>P1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B66"/>
                </a:solidFill>
              </a:rPr>
              <a:t>Web 1.0–3.0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87168" y="2377440"/>
            <a:ext cx="201168" cy="384048"/>
          </a:xfrm>
          <a:prstGeom prst="chevron">
            <a:avLst/>
          </a:prstGeom>
          <a:solidFill>
            <a:srgbClr val="DFE7F0"/>
          </a:solidFill>
          <a:ln w="12700">
            <a:solidFill>
              <a:srgbClr val="DF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2057400"/>
            <a:ext cx="1600200" cy="1097280"/>
          </a:xfrm>
          <a:prstGeom prst="roundRect">
            <a:avLst>
              <a:gd name="adj" fmla="val 11667"/>
            </a:avLst>
          </a:prstGeom>
          <a:solidFill>
            <a:srgbClr val="F7FBFF"/>
          </a:solidFill>
          <a:ln w="15240">
            <a:solidFill>
              <a:srgbClr val="BED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3408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6"/>
                </a:solidFill>
              </a:rPr>
              <a:t>P2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B66"/>
                </a:solidFill>
              </a:rPr>
              <a:t>HTML5 Semantik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98848" y="2377440"/>
            <a:ext cx="201168" cy="384048"/>
          </a:xfrm>
          <a:prstGeom prst="chevron">
            <a:avLst/>
          </a:prstGeom>
          <a:solidFill>
            <a:srgbClr val="DFE7F0"/>
          </a:solidFill>
          <a:ln w="12700">
            <a:solidFill>
              <a:srgbClr val="DF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057400"/>
            <a:ext cx="1600200" cy="1097280"/>
          </a:xfrm>
          <a:prstGeom prst="roundRect">
            <a:avLst>
              <a:gd name="adj" fmla="val 11667"/>
            </a:avLst>
          </a:prstGeom>
          <a:solidFill>
            <a:srgbClr val="F28C28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3408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CSS3 Layout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10528" y="2377440"/>
            <a:ext cx="201168" cy="384048"/>
          </a:xfrm>
          <a:prstGeom prst="chevron">
            <a:avLst/>
          </a:prstGeom>
          <a:solidFill>
            <a:srgbClr val="DFE7F0"/>
          </a:solidFill>
          <a:ln w="12700">
            <a:solidFill>
              <a:srgbClr val="DF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2057400"/>
            <a:ext cx="1600200" cy="1097280"/>
          </a:xfrm>
          <a:prstGeom prst="roundRect">
            <a:avLst>
              <a:gd name="adj" fmla="val 11667"/>
            </a:avLst>
          </a:prstGeom>
          <a:solidFill>
            <a:srgbClr val="F7FBFF"/>
          </a:solidFill>
          <a:ln w="15240">
            <a:solidFill>
              <a:srgbClr val="BED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3408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6"/>
                </a:solidFill>
              </a:rPr>
              <a:t>P4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B66"/>
                </a:solidFill>
              </a:rPr>
              <a:t>UI/UX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22208" y="2377440"/>
            <a:ext cx="201168" cy="384048"/>
          </a:xfrm>
          <a:prstGeom prst="chevron">
            <a:avLst/>
          </a:prstGeom>
          <a:solidFill>
            <a:srgbClr val="DFE7F0"/>
          </a:solidFill>
          <a:ln w="12700">
            <a:solidFill>
              <a:srgbClr val="DF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0" y="2057400"/>
            <a:ext cx="1600200" cy="1097280"/>
          </a:xfrm>
          <a:prstGeom prst="roundRect">
            <a:avLst>
              <a:gd name="adj" fmla="val 11667"/>
            </a:avLst>
          </a:prstGeom>
          <a:solidFill>
            <a:srgbClr val="F7FBFF"/>
          </a:solidFill>
          <a:ln w="15240">
            <a:solidFill>
              <a:srgbClr val="BED2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23408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6"/>
                </a:solidFill>
              </a:rPr>
              <a:t>P5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B66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68680" y="4160520"/>
            <a:ext cx="3108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33272" y="432511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99"/>
                </a:solidFill>
              </a:rPr>
              <a:t>Kemampuan akhir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33272" y="4690872"/>
            <a:ext cx="27797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Mahasiswa mampu mendesain tampilan web menggunakan CSS3: layout, Flexbox/Grid, dan responsif.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526280" y="416052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90872" y="432511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9C6B"/>
                </a:solidFill>
              </a:rPr>
              <a:t>Materi inti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690872" y="4690872"/>
            <a:ext cx="25968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CSS3 box model, Flexbox, Grid, media query, dan desain responsif.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8001000" y="4160520"/>
            <a:ext cx="29260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65592" y="432511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8C28"/>
                </a:solidFill>
              </a:rPr>
              <a:t>Produk praktikum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165592" y="4690872"/>
            <a:ext cx="25968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Halaman Asisten AI UMKM dengan tampilan rapi pada desktop dan mobile.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Pertemuan 2: HTML adalah Struktur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CSS akan memperindah struktur tanpa merusak makna semantik.</a:t>
            </a:r>
            <a:endParaRPr lang="en-US" sz="1150" dirty="0"/>
          </a:p>
        </p:txBody>
      </p:sp>
      <p:pic>
        <p:nvPicPr>
          <p:cNvPr id="4" name="Image 0" descr="/mnt/data/a_clean_flat_vector_illustration_of_a_web_page_lay.png">    </p:cNvPr>
          <p:cNvPicPr>
            <a:picLocks noChangeAspect="1"/>
          </p:cNvPicPr>
          <p:nvPr/>
        </p:nvPicPr>
        <p:blipFill>
          <a:blip r:embed="rId1"/>
          <a:srcRect l="16771" r="16771" t="0" b="0"/>
          <a:stretch/>
        </p:blipFill>
        <p:spPr>
          <a:xfrm>
            <a:off x="6492240" y="1143000"/>
            <a:ext cx="507492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508760"/>
            <a:ext cx="5349240" cy="2743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900" dirty="0">
                <a:solidFill>
                  <a:srgbClr val="263342"/>
                </a:solidFill>
              </a:rPr>
              <a:t>HTML menentukan struktur: header, nav, main, section, article, form, footer.</a:t>
            </a:r>
            <a:endParaRPr lang="en-US" sz="1900" dirty="0"/>
          </a:p>
          <a:p>
            <a:r>
              <a:rPr lang="en-US" sz="1900" dirty="0">
                <a:solidFill>
                  <a:srgbClr val="263342"/>
                </a:solidFill>
              </a:rPr>
              <a:t>CSS menentukan presentasi: warna, jarak, ukuran, posisi, dan responsivitas.</a:t>
            </a:r>
            <a:endParaRPr lang="en-US" sz="1900" dirty="0"/>
          </a:p>
          <a:p>
            <a:r>
              <a:rPr lang="en-US" sz="1900" dirty="0">
                <a:solidFill>
                  <a:srgbClr val="263342"/>
                </a:solidFill>
              </a:rPr>
              <a:t>Prinsip utama: jangan mengorbankan aksesibilitas demi tampilan.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77240" y="4343400"/>
            <a:ext cx="4983480" cy="1207008"/>
          </a:xfrm>
          <a:prstGeom prst="roundRect">
            <a:avLst>
              <a:gd name="adj" fmla="val 6061"/>
            </a:avLst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4471416"/>
            <a:ext cx="46542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class="hero"&gt;...&lt;/section&gt;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&lt;section class="fitur"&gt;...&lt;/section&gt;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Peran CSS dalam Aplikasi Web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CSS membuat halaman lebih jelas, mudah dibaca, dan konsisten di banyak perangkat.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4904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99"/>
                </a:solidFill>
              </a:rPr>
              <a:t>Visual identity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96112" y="1856232"/>
            <a:ext cx="30083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Warna, tipografi, radius, bayangan, dan gaya komponen.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4904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9C6B"/>
                </a:solidFill>
              </a:rPr>
              <a:t>Layout system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99432" y="1856232"/>
            <a:ext cx="30083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Susunan elemen memakai box model, Flexbox, dan Grid.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138160" y="1325880"/>
            <a:ext cx="33375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149047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8C28"/>
                </a:solidFill>
              </a:rPr>
              <a:t>Responsive behavior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02752" y="1856232"/>
            <a:ext cx="30083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Tampilan menyesuaikan ukuran layar dengan media query.</a:t>
            </a:r>
            <a:endParaRPr lang="en-US" sz="1220" dirty="0"/>
          </a:p>
        </p:txBody>
      </p:sp>
      <p:pic>
        <p:nvPicPr>
          <p:cNvPr id="13" name="Image 0" descr="/mnt/data/wide_clean_vector_illustration_style_scene_a_lap.png">    </p:cNvPr>
          <p:cNvPicPr>
            <a:picLocks noChangeAspect="1"/>
          </p:cNvPicPr>
          <p:nvPr/>
        </p:nvPicPr>
        <p:blipFill>
          <a:blip r:embed="rId1"/>
          <a:srcRect l="0" r="0" t="29616" b="29616"/>
          <a:stretch/>
        </p:blipFill>
        <p:spPr>
          <a:xfrm>
            <a:off x="822960" y="3246120"/>
            <a:ext cx="10561320" cy="2423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Box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Setiap elemen HTML dianggap sebagai kotak: content, padding, border, dan margin.</a:t>
            </a:r>
            <a:endParaRPr lang="en-US" sz="1150" dirty="0"/>
          </a:p>
        </p:txBody>
      </p:sp>
      <p:pic>
        <p:nvPicPr>
          <p:cNvPr id="4" name="Image 0" descr="/mnt/data/work_p3/TI-501-Pengembangan-Aplikasi-Web-Semester-Antara-main_Lengkap/03_css3-layout-responsif/assets/css-box-model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234440"/>
            <a:ext cx="553212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417320"/>
            <a:ext cx="4389120" cy="3063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600" dirty="0">
                <a:solidFill>
                  <a:srgbClr val="263342"/>
                </a:solidFill>
              </a:rPr>
              <a:t>content: isi utama elemen.</a:t>
            </a:r>
            <a:endParaRPr lang="en-US" sz="1600" dirty="0"/>
          </a:p>
          <a:p>
            <a:r>
              <a:rPr lang="en-US" sz="1600" dirty="0">
                <a:solidFill>
                  <a:srgbClr val="263342"/>
                </a:solidFill>
              </a:rPr>
              <a:t>padding: ruang di dalam kotak.</a:t>
            </a:r>
            <a:endParaRPr lang="en-US" sz="1600" dirty="0"/>
          </a:p>
          <a:p>
            <a:r>
              <a:rPr lang="en-US" sz="1600" dirty="0">
                <a:solidFill>
                  <a:srgbClr val="263342"/>
                </a:solidFill>
              </a:rPr>
              <a:t>border: garis pembatas.</a:t>
            </a:r>
            <a:endParaRPr lang="en-US" sz="1600" dirty="0"/>
          </a:p>
          <a:p>
            <a:r>
              <a:rPr lang="en-US" sz="1600" dirty="0">
                <a:solidFill>
                  <a:srgbClr val="263342"/>
                </a:solidFill>
              </a:rPr>
              <a:t>margin: ruang di luar kotak.</a:t>
            </a:r>
            <a:endParaRPr lang="en-US" sz="1600" dirty="0"/>
          </a:p>
          <a:p>
            <a:r>
              <a:rPr lang="en-US" sz="1600" dirty="0">
                <a:solidFill>
                  <a:srgbClr val="263342"/>
                </a:solidFill>
              </a:rPr>
              <a:t>`box-sizing: border-box` membuat ukuran elemen lebih mudah dikendalikan.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720840" y="48006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85432" y="4928616"/>
            <a:ext cx="39684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{ box-sizing: border-box;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.card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20px;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Selector, Cascade, dan Custom Properties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Gunakan aturan CSS yang rapi agar tampilan mudah dikembangkan.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453896"/>
            <a:ext cx="4745736" cy="4032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:root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--primary: #173b66;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--accent: #f28c28;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.hero h1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var(--primary);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.button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var(--accent);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46520" y="1417320"/>
            <a:ext cx="4526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11112" y="1581912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99"/>
                </a:solidFill>
              </a:rPr>
              <a:t>Selector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611112" y="1947672"/>
            <a:ext cx="419709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Menentukan elemen mana yang diberi gaya.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446520" y="2514600"/>
            <a:ext cx="4526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11112" y="2679192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9C6B"/>
                </a:solidFill>
              </a:rPr>
              <a:t>Cascade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11112" y="3044952"/>
            <a:ext cx="419709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Aturan yang lebih spesifik/terakhir dapat menimpa aturan lain.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446520" y="3611880"/>
            <a:ext cx="4526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11112" y="3776472"/>
            <a:ext cx="4197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8C28"/>
                </a:solidFill>
              </a:rPr>
              <a:t>Custom properties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11112" y="4142232"/>
            <a:ext cx="4197096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Menyimpan nilai warna, jarak, dan ukuran agar konsisten.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Flexbox: Layout Satu Dimensi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Cocok untuk navigasi, toolbar, tombol, dan susunan elemen dalam satu arah.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53896"/>
            <a:ext cx="4791456" cy="4123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.site-header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align-items: center;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justify-content: space-between;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1rem;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.nav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flex;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1rem;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flex-wrap: wrap;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pic>
        <p:nvPicPr>
          <p:cNvPr id="6" name="Image 0" descr="/mnt/data/work_p3/TI-501-Pengembangan-Aplikasi-Web-Semester-Antara-main_Lengkap/03_css3-layout-responsif/assets/flex-grid-responsiv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9360" y="1234440"/>
            <a:ext cx="50749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0" y="5230368"/>
            <a:ext cx="3520440" cy="320040"/>
          </a:xfrm>
          <a:prstGeom prst="roundRect">
            <a:avLst>
              <a:gd name="adj" fmla="val 2285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05472" y="5298948"/>
            <a:ext cx="3374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Gunakan Flexbox saat fokusnya baris ATAU kolom.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 Grid: Layout Dua Dimensi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Cocok untuk kartu fitur, galeri, dashboard, dan layout dengan baris-kolom.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362456"/>
            <a:ext cx="5111496" cy="421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.feature-grid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display: grid;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grid-template-columns: repeat(3, minmax(0, 1fr));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gap: 1.25rem;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.feature-card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white;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20px;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1.5rem;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20840" y="1508760"/>
            <a:ext cx="1078992" cy="91440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 w="16510">
            <a:solidFill>
              <a:srgbClr val="F28C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1508760"/>
            <a:ext cx="1078992" cy="91440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 w="1651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72600" y="1508760"/>
            <a:ext cx="1078992" cy="91440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 w="16510">
            <a:solidFill>
              <a:srgbClr val="F28C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20840" y="2743200"/>
            <a:ext cx="1078992" cy="91440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 w="16510">
            <a:solidFill>
              <a:srgbClr val="F28C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0" y="2743200"/>
            <a:ext cx="1078992" cy="91440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 w="16510">
            <a:solidFill>
              <a:srgbClr val="F28C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72600" y="2743200"/>
            <a:ext cx="1078992" cy="914400"/>
          </a:xfrm>
          <a:prstGeom prst="roundRect">
            <a:avLst>
              <a:gd name="adj" fmla="val 10000"/>
            </a:avLst>
          </a:prstGeom>
          <a:solidFill>
            <a:srgbClr val="FFF1DD"/>
          </a:solidFill>
          <a:ln w="1651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4224528"/>
            <a:ext cx="43891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342"/>
                </a:solidFill>
              </a:rPr>
              <a:t>Grid memudahkan kolom yang rata, jarak konsisten, dan perubahan jumlah kolom pada breakpoint.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Media Query dan Mobile-First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Mulai dari desain layar kecil, lalu tambahkan aturan untuk layar lebih besar.</a:t>
            </a:r>
            <a:endParaRPr lang="en-US" sz="1150" dirty="0"/>
          </a:p>
        </p:txBody>
      </p:sp>
      <p:pic>
        <p:nvPicPr>
          <p:cNvPr id="4" name="Image 0" descr="/mnt/data/work_p3/TI-501-Pengembangan-Aplikasi-Web-Semester-Antara-main_Lengkap/03_css3-layout-responsif/assets/responsive-breakpoint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" y="1097280"/>
            <a:ext cx="603504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03720" y="1234440"/>
            <a:ext cx="4526280" cy="3794760"/>
          </a:xfrm>
          <a:prstGeom prst="roundRect">
            <a:avLst>
              <a:gd name="adj" fmla="val 1928"/>
            </a:avLst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68312" y="1362456"/>
            <a:ext cx="4197096" cy="3575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800px)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.hero,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.feature-grid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grid-template-columns: 1fr;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.site-header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flex-direction: column;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269480" y="5285232"/>
            <a:ext cx="3566160" cy="320040"/>
          </a:xfrm>
          <a:prstGeom prst="roundRect">
            <a:avLst>
              <a:gd name="adj" fmla="val 22857"/>
            </a:avLst>
          </a:prstGeom>
          <a:solidFill>
            <a:srgbClr val="119C6B"/>
          </a:solidFill>
          <a:ln w="12700">
            <a:solidFill>
              <a:srgbClr val="119C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42632" y="5353812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Target: tidak ada scroll horizontal di mobile.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Prinsip Desain Responsif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Responsif bukan hanya “mengecilkan”, tetapi mengatur ulang pengalaman pengguna.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7160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5361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99"/>
                </a:solidFill>
              </a:rPr>
              <a:t>Fluid layout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41832" y="1901952"/>
            <a:ext cx="30083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Gunakan %, vw, minmax(), dan clamp() untuk ukuran yang adaptif.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434840" y="137160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5361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9C6B"/>
                </a:solidFill>
              </a:rPr>
              <a:t>Readable content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99432" y="1901952"/>
            <a:ext cx="30083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Ukuran font, panjang baris, dan jarak antar elemen tetap nyaman.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92440" y="1371600"/>
            <a:ext cx="33375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536192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8C28"/>
                </a:solidFill>
              </a:rPr>
              <a:t>Touch friendly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57032" y="1901952"/>
            <a:ext cx="300837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Tombol cukup besar dan tidak terlalu berdekatan di layar kecil.</a:t>
            </a:r>
            <a:endParaRPr lang="en-US" sz="1220" dirty="0"/>
          </a:p>
        </p:txBody>
      </p:sp>
      <p:pic>
        <p:nvPicPr>
          <p:cNvPr id="13" name="Image 0" descr="/mnt/data/wide_clean_vector_illustration_style_scene_a_lap.png">    </p:cNvPr>
          <p:cNvPicPr>
            <a:picLocks noChangeAspect="1"/>
          </p:cNvPicPr>
          <p:nvPr/>
        </p:nvPicPr>
        <p:blipFill>
          <a:blip r:embed="rId1"/>
          <a:srcRect l="0" r="0" t="29826" b="29826"/>
          <a:stretch/>
        </p:blipFill>
        <p:spPr>
          <a:xfrm>
            <a:off x="868680" y="3108960"/>
            <a:ext cx="10469880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Integrasi AIK: Responsif dan Aksesibel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Desain yang baik memudahkan lebih banyak orang mengakses manfaat.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62763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99"/>
                </a:solidFill>
              </a:rPr>
              <a:t>Al-‘Adl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41832" y="1993392"/>
            <a:ext cx="282549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Tampilan tidak hanya nyaman untuk pengguna laptop, tetapi juga pengguna ponsel.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480560" y="146304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45152" y="162763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9C6B"/>
                </a:solidFill>
              </a:rPr>
              <a:t>Rahmah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45152" y="1993392"/>
            <a:ext cx="282549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Keterbacaan, jarak, dan kontras membantu pengguna dengan kondisi berbeda.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183880" y="1463040"/>
            <a:ext cx="3154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162763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8C28"/>
                </a:solidFill>
              </a:rPr>
              <a:t>Amanah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825496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Desain yang rapi mengurangi kesalahan pengguna saat mengisi form.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143000" y="4160520"/>
            <a:ext cx="9921240" cy="868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3B66"/>
                </a:solidFill>
              </a:rPr>
              <a:t>Dalam proyek Asisten AI UMKM, desain responsif memastikan pelaku usaha dapat memakai aplikasi dari perangkat yang tersedia, termasuk ponsel.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Studi Kasus: Halaman Asisten AI UMKM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Pada Pertemuan 3, mahasiswa membuat tampilan awal yang responsif.</a:t>
            </a:r>
            <a:endParaRPr lang="en-US" sz="1150" dirty="0"/>
          </a:p>
        </p:txBody>
      </p:sp>
      <p:pic>
        <p:nvPicPr>
          <p:cNvPr id="4" name="Image 0" descr="/mnt/data/wide_clean_vector_illustration_style_scene_a_lap.png">    </p:cNvPr>
          <p:cNvPicPr>
            <a:picLocks noChangeAspect="1"/>
          </p:cNvPicPr>
          <p:nvPr/>
        </p:nvPicPr>
        <p:blipFill>
          <a:blip r:embed="rId1"/>
          <a:srcRect l="19850" r="19850" t="0" b="0"/>
          <a:stretch/>
        </p:blipFill>
        <p:spPr>
          <a:xfrm>
            <a:off x="6629400" y="1097280"/>
            <a:ext cx="48006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325880"/>
            <a:ext cx="5257800" cy="3429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263342"/>
                </a:solidFill>
              </a:rPr>
              <a:t>Header dan navigasi memakai Flexbox.</a:t>
            </a:r>
            <a:endParaRPr lang="en-US" sz="1800" dirty="0"/>
          </a:p>
          <a:p>
            <a:r>
              <a:rPr lang="en-US" sz="1800" dirty="0">
                <a:solidFill>
                  <a:srgbClr val="263342"/>
                </a:solidFill>
              </a:rPr>
              <a:t>Hero section memakai Grid agar teks dan kartu seimbang.</a:t>
            </a:r>
            <a:endParaRPr lang="en-US" sz="1800" dirty="0"/>
          </a:p>
          <a:p>
            <a:r>
              <a:rPr lang="en-US" sz="1800" dirty="0">
                <a:solidFill>
                  <a:srgbClr val="263342"/>
                </a:solidFill>
              </a:rPr>
              <a:t>Daftar fitur memakai CSS Grid.</a:t>
            </a:r>
            <a:endParaRPr lang="en-US" sz="1800" dirty="0"/>
          </a:p>
          <a:p>
            <a:r>
              <a:rPr lang="en-US" sz="1800" dirty="0">
                <a:solidFill>
                  <a:srgbClr val="263342"/>
                </a:solidFill>
              </a:rPr>
              <a:t>Form tetap memiliki label dan fokus input yang jelas.</a:t>
            </a:r>
            <a:endParaRPr lang="en-US" sz="1800" dirty="0"/>
          </a:p>
          <a:p>
            <a:r>
              <a:rPr lang="en-US" sz="1800" dirty="0">
                <a:solidFill>
                  <a:srgbClr val="263342"/>
                </a:solidFill>
              </a:rPr>
              <a:t>Media query mengubah layout menjadi satu kolom pada mobile.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68680" y="507492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12243A"/>
          </a:solidFill>
          <a:ln w="12700">
            <a:solidFill>
              <a:srgbClr val="1224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3272" y="5202936"/>
            <a:ext cx="232257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style.css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Praktikum Hari Ini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Kerjakan bertahap agar mudah memeriksa kesalahan layout.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154680" cy="1005840"/>
          </a:xfrm>
          <a:prstGeom prst="roundRect">
            <a:avLst>
              <a:gd name="adj" fmla="val 12727"/>
            </a:avLst>
          </a:prstGeom>
          <a:solidFill>
            <a:srgbClr val="F4F8FC"/>
          </a:solidFill>
          <a:ln w="15240">
            <a:solidFill>
              <a:srgbClr val="1F5F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F99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07592" y="17190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6"/>
                </a:solidFill>
              </a:rPr>
              <a:t>Hubungkan CSS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154680" cy="100584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8C28"/>
                </a:solidFill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56632" y="17190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6"/>
                </a:solidFill>
              </a:rPr>
              <a:t>Buat variabel &amp; reset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3154680" cy="1005840"/>
          </a:xfrm>
          <a:prstGeom prst="roundRect">
            <a:avLst>
              <a:gd name="adj" fmla="val 12727"/>
            </a:avLst>
          </a:prstGeom>
          <a:solidFill>
            <a:srgbClr val="F4F8FC"/>
          </a:solidFill>
          <a:ln w="15240">
            <a:solidFill>
              <a:srgbClr val="1F5F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93608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F99"/>
                </a:solidFill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805672" y="171907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6"/>
                </a:solidFill>
              </a:rPr>
              <a:t>Atur header/hero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85800" y="2926080"/>
            <a:ext cx="3154680" cy="100584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31729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8C28"/>
                </a:solidFill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07592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6"/>
                </a:solidFill>
              </a:rPr>
              <a:t>Buat grid fitur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434840" y="2926080"/>
            <a:ext cx="3154680" cy="1005840"/>
          </a:xfrm>
          <a:prstGeom prst="roundRect">
            <a:avLst>
              <a:gd name="adj" fmla="val 12727"/>
            </a:avLst>
          </a:prstGeom>
          <a:solidFill>
            <a:srgbClr val="F4F8FC"/>
          </a:solidFill>
          <a:ln w="15240">
            <a:solidFill>
              <a:srgbClr val="1F5F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31729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5F99"/>
                </a:solidFill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56632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6"/>
                </a:solidFill>
              </a:rPr>
              <a:t>Tambah media query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183880" y="2926080"/>
            <a:ext cx="3154680" cy="1005840"/>
          </a:xfrm>
          <a:prstGeom prst="roundRect">
            <a:avLst>
              <a:gd name="adj" fmla="val 12727"/>
            </a:avLst>
          </a:prstGeom>
          <a:solidFill>
            <a:srgbClr val="FFF7ED"/>
          </a:solidFill>
          <a:ln w="15240">
            <a:solidFill>
              <a:srgbClr val="F28C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3608" y="31729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28C28"/>
                </a:solidFill>
              </a:rPr>
              <a:t>6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805672" y="32278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3B66"/>
                </a:solidFill>
              </a:rPr>
              <a:t>Uji desktop &amp; mobile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Kesalahan Umum yang Harus Dihindari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Periksa sebelum mengumpulkan tugas.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49047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8C28"/>
                </a:solidFill>
              </a:rPr>
              <a:t>Terlalu banyak fixed width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41832" y="1856232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Gunakan max-width, %, minmax(), atau clamp() agar adaptif.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434840" y="132588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49047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8C28"/>
                </a:solidFill>
              </a:rPr>
              <a:t>Tidak ada label form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599432" y="1856232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Label penting untuk aksesibilitas dan pengalaman pengguna.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092440" y="132588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57032" y="149047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8C28"/>
                </a:solidFill>
              </a:rPr>
              <a:t>Kontras rendah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57032" y="1856232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Pastikan teks tetap terbaca pada background terang/gelap.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77240" y="297180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1832" y="31363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99"/>
                </a:solidFill>
              </a:rPr>
              <a:t>Media query terlambat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41832" y="3502152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Uji dari awal di mobile, bukan hanya di akhir.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4434840" y="297180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99432" y="31363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99"/>
                </a:solidFill>
              </a:rPr>
              <a:t>Grid rusak di mobile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599432" y="3502152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Ubah menjadi 1 kolom pada layar kecil.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8092440" y="2971800"/>
            <a:ext cx="3291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57032" y="3136392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99"/>
                </a:solidFill>
              </a:rPr>
              <a:t>Elemen bertumpuk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57032" y="3502152"/>
            <a:ext cx="29626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Gunakan gap, padding, dan line-height yang cukup.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Tugas Pertemuan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7772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673"/>
                </a:solidFill>
              </a:rPr>
              <a:t>Bobot 3%: membuat halaman responsif dan melampirkan bukti uji tampilan.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15468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39903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5F99"/>
                </a:solidFill>
              </a:rPr>
              <a:t>Yang dikumpulkan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41832" y="1764792"/>
            <a:ext cx="282549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index.html, style.css, screenshot desktop, screenshot mobile, dan laporan singkat.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4526280" y="1234440"/>
            <a:ext cx="315468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90872" y="139903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9C6B"/>
                </a:solidFill>
              </a:rPr>
              <a:t>Kriteria utama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690872" y="1764792"/>
            <a:ext cx="282549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Box model rapi, Flexbox tepat, Grid tepat, responsive, dan aksesibel.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75320" y="1234440"/>
            <a:ext cx="315468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5240">
            <a:solidFill>
              <a:srgbClr val="DFE7F0"/>
            </a:solidFill>
            <a:prstDash val="solid"/>
          </a:ln>
          <a:effectLst>
            <a:outerShdw sx="100000" sy="100000" kx="0" ky="0" algn="bl" rotWithShape="0" blurRad="12700" dist="50800" dir="2700000">
              <a:srgbClr val="D6DEE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39912" y="139903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28C28"/>
                </a:solidFill>
              </a:rPr>
              <a:t>Nama folder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439912" y="1764792"/>
            <a:ext cx="2825496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342"/>
                </a:solidFill>
              </a:rPr>
              <a:t>NIM_Nama_Pertemuan03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3108960" y="5074920"/>
            <a:ext cx="5989320" cy="320040"/>
          </a:xfrm>
          <a:prstGeom prst="roundRect">
            <a:avLst>
              <a:gd name="adj" fmla="val 22857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5143500"/>
            <a:ext cx="5843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Fokus: tampilan rapi dan fungsional, bukan dekorasi berlebihan.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3 - CSS3 Layout Responsif</dc:title>
  <dc:subject>Pertemuan 3 CSS3 Layout Responsif</dc:subject>
  <dc:creator>TI-501 UMY</dc:creator>
  <cp:lastModifiedBy>TI-501 UMY</cp:lastModifiedBy>
  <cp:revision>1</cp:revision>
  <dcterms:created xsi:type="dcterms:W3CDTF">2026-07-15T02:48:40Z</dcterms:created>
  <dcterms:modified xsi:type="dcterms:W3CDTF">2026-07-15T02:48:40Z</dcterms:modified>
</cp:coreProperties>
</file>